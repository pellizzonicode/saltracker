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c3d3b41d4d458d" /><Relationship Type="http://schemas.openxmlformats.org/officeDocument/2006/relationships/extended-properties" Target="/docProps/app.xml" Id="Rc27d40a1cb2d4005" /><Relationship Type="http://schemas.openxmlformats.org/officeDocument/2006/relationships/officeDocument" Target="/ppt/presentation.xml" Id="R6bf3eb4d72984581" /></Relationships>
</file>

<file path=ppt/presentation.xml><?xml version="1.0" encoding="utf-8"?>
<p:presentation xmlns:p="http://schemas.openxmlformats.org/presentationml/2006/main">
  <p:sldMasterIdLst>
    <p:sldMasterId xmlns:r="http://schemas.openxmlformats.org/officeDocument/2006/relationships" id="2147483648" r:id="R88586bd04428466e"/>
  </p:sldMasterIdLst>
  <p:notesMasterIdLst>
    <p:notesMasterId xmlns:r="http://schemas.openxmlformats.org/officeDocument/2006/relationships" r:id="Rf03883c8bf544a2e"/>
  </p:notesMasterIdLst>
  <p:sldIdLst>
    <p:sldId xmlns:r="http://schemas.openxmlformats.org/officeDocument/2006/relationships" id="256" r:id="R71c274de33a148dd"/>
    <p:sldId xmlns:r="http://schemas.openxmlformats.org/officeDocument/2006/relationships" id="257" r:id="R11830d0f19f44521"/>
    <p:sldId xmlns:r="http://schemas.openxmlformats.org/officeDocument/2006/relationships" id="258" r:id="R5f5118c72a7f4bf0"/>
    <p:sldId xmlns:r="http://schemas.openxmlformats.org/officeDocument/2006/relationships" id="259" r:id="Rd0b7293a085948b5"/>
    <p:sldId xmlns:r="http://schemas.openxmlformats.org/officeDocument/2006/relationships" id="260" r:id="Re11e9905a0a04d65"/>
    <p:sldId xmlns:r="http://schemas.openxmlformats.org/officeDocument/2006/relationships" id="261" r:id="Rebeb6ffe1fc14331"/>
    <p:sldId xmlns:r="http://schemas.openxmlformats.org/officeDocument/2006/relationships" id="262" r:id="Rd2f7c80e234c4d6e"/>
    <p:sldId xmlns:r="http://schemas.openxmlformats.org/officeDocument/2006/relationships" id="263" r:id="R4be7e934d82340e2"/>
    <p:sldId xmlns:r="http://schemas.openxmlformats.org/officeDocument/2006/relationships" id="264" r:id="Rdcc52d6ef02240d8"/>
    <p:sldId xmlns:r="http://schemas.openxmlformats.org/officeDocument/2006/relationships" id="265" r:id="R152c1b4ee1564c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24b8be44f0439a" /><Relationship Type="http://schemas.openxmlformats.org/officeDocument/2006/relationships/slideMaster" Target="/ppt/slideMasters/slideMaster1.xml" Id="R88586bd04428466e" /><Relationship Type="http://schemas.openxmlformats.org/officeDocument/2006/relationships/notesMaster" Target="/ppt/notesMasters/notesMaster1.xml" Id="Rf03883c8bf544a2e" /><Relationship Type="http://schemas.openxmlformats.org/officeDocument/2006/relationships/presProps" Target="/ppt/presProps.xml" Id="R46b13710a5574a37" /><Relationship Type="http://schemas.openxmlformats.org/officeDocument/2006/relationships/tableStyles" Target="/ppt/tableStyles.xml" Id="R3bf60b37fa1343d1" /><Relationship Type="http://schemas.openxmlformats.org/officeDocument/2006/relationships/slide" Target="/ppt/slides/slide1.xml" Id="R71c274de33a148dd" /><Relationship Type="http://schemas.openxmlformats.org/officeDocument/2006/relationships/slide" Target="/ppt/slides/slide2.xml" Id="R11830d0f19f44521" /><Relationship Type="http://schemas.openxmlformats.org/officeDocument/2006/relationships/slide" Target="/ppt/slides/slide3.xml" Id="R5f5118c72a7f4bf0" /><Relationship Type="http://schemas.openxmlformats.org/officeDocument/2006/relationships/slide" Target="/ppt/slides/slide4.xml" Id="Rd0b7293a085948b5" /><Relationship Type="http://schemas.openxmlformats.org/officeDocument/2006/relationships/slide" Target="/ppt/slides/slide5.xml" Id="Re11e9905a0a04d65" /><Relationship Type="http://schemas.openxmlformats.org/officeDocument/2006/relationships/slide" Target="/ppt/slides/slide6.xml" Id="Rebeb6ffe1fc14331" /><Relationship Type="http://schemas.openxmlformats.org/officeDocument/2006/relationships/slide" Target="/ppt/slides/slide7.xml" Id="Rd2f7c80e234c4d6e" /><Relationship Type="http://schemas.openxmlformats.org/officeDocument/2006/relationships/slide" Target="/ppt/slides/slide8.xml" Id="R4be7e934d82340e2" /><Relationship Type="http://schemas.openxmlformats.org/officeDocument/2006/relationships/slide" Target="/ppt/slides/slide9.xml" Id="Rdcc52d6ef02240d8" /><Relationship Type="http://schemas.openxmlformats.org/officeDocument/2006/relationships/slide" Target="/ppt/slides/slide10.xml" Id="R152c1b4ee1564c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a4edb7cda54d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75e6d25547487a" /><Relationship Type="http://schemas.openxmlformats.org/officeDocument/2006/relationships/notesMaster" Target="/ppt/notesMasters/notesMaster1.xml" Id="R414640d82f3a46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03df3c8cb2447c" /><Relationship Type="http://schemas.openxmlformats.org/officeDocument/2006/relationships/notesMaster" Target="/ppt/notesMasters/notesMaster1.xml" Id="R42620e43e14647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dfe1663269479b" /><Relationship Type="http://schemas.openxmlformats.org/officeDocument/2006/relationships/notesMaster" Target="/ppt/notesMasters/notesMaster1.xml" Id="Rc4a45005dfff45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17a05a2fa24b31" /><Relationship Type="http://schemas.openxmlformats.org/officeDocument/2006/relationships/notesMaster" Target="/ppt/notesMasters/notesMaster1.xml" Id="Ra15bba422e0e42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bda66fe4e647a8" /><Relationship Type="http://schemas.openxmlformats.org/officeDocument/2006/relationships/notesMaster" Target="/ppt/notesMasters/notesMaster1.xml" Id="R508c56c5c5d042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f44c378d3f42c6" /><Relationship Type="http://schemas.openxmlformats.org/officeDocument/2006/relationships/notesMaster" Target="/ppt/notesMasters/notesMaster1.xml" Id="Rbce97debe41141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0a686ec65e4938" /><Relationship Type="http://schemas.openxmlformats.org/officeDocument/2006/relationships/notesMaster" Target="/ppt/notesMasters/notesMaster1.xml" Id="R8f705505fa874b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b72c2b62f94613" /><Relationship Type="http://schemas.openxmlformats.org/officeDocument/2006/relationships/notesMaster" Target="/ppt/notesMasters/notesMaster1.xml" Id="Ra603da81edcc48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cbefd58af149aa" /><Relationship Type="http://schemas.openxmlformats.org/officeDocument/2006/relationships/notesMaster" Target="/ppt/notesMasters/notesMaster1.xml" Id="Rbd0f7948c9bb44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66f35d78ff4974" /><Relationship Type="http://schemas.openxmlformats.org/officeDocument/2006/relationships/notesMaster" Target="/ppt/notesMasters/notesMaster1.xml" Id="R938ee1b2201346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Group 2: Ashok Hota, Ema Sena, Gergely Pankucsi, Giovanni Pellizzoni, Richard Asamoah and Mladen Mrkić. Names follow the user-supplied team roster. Detailed contributions remain on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business scenario from the requirements. Avoid claiming production readiness. Introduce the transition to the solution overview.</a:t>
            </a:r>
          </a:p>
          <a:p xmlns:a="http://schemas.openxmlformats.org/drawingml/2006/main">
            <a:r>
              <a:t>Sources: supplied Assest Tracker Requirements.pdf and Week 3 presentation; project context for cost and confirmed contributions.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Summarize Requirements 2–5. AI-generated details must remain editable. Manual entry is the fallback when a useful description cannot be generated. Financial calculations must not be delegated to AI.</a:t>
            </a:r>
          </a:p>
          <a:p xmlns:a="http://schemas.openxmlformats.org/drawingml/2006/main">
            <a:r>
              <a:t>Sources: supplied Assest Tracker Requirements.pdf and Week 3 presentation; project context for cost and confirmed contributions.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Logical architecture reused from the Week 3 source. Walk through Amplify, Cognito, API Gateway, Lambda, DynamoDB, private S3 and Bedrock, then EventBridge and SNS. The photo-processing Lambda workflow is summarized rather than drawn in full. Confirm current resources and rule timing against final deployment. IaC and CI/CD are covered on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Role access follows Requirement 1. Verify secure passwords, account creation/verification, reset, session expiry and protected routes. Demonstrate token validation and asset scope. Never expose tokens or credentials on screen.</a:t>
            </a:r>
          </a:p>
          <a:p xmlns:a="http://schemas.openxmlformats.org/drawingml/2006/main">
            <a:r>
              <a:t>Sources: supplied Assest Tracker Requirements.pdf and Week 3 presentation; project context for cost and confirmed contributions.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final demonstration checklist (12 required steps):</a:t>
            </a:r>
          </a:p>
          <a:p xmlns:a="http://schemas.openxmlformats.org/drawingml/2006/main">
            <a:r>
              <a:t>1. Open the protected application while signed out and show denied access or login redirection.</a:t>
            </a:r>
          </a:p>
          <a:p xmlns:a="http://schemas.openxmlformats.org/drawingml/2006/main">
            <a:r>
              <a:t>2. Sign in with Cognito.</a:t>
            </a:r>
          </a:p>
          <a:p xmlns:a="http://schemas.openxmlformats.org/drawingml/2006/main">
            <a:r>
              <a:t>3. Manually create an asset and show the saved record.</a:t>
            </a:r>
          </a:p>
          <a:p xmlns:a="http://schemas.openxmlformats.org/drawingml/2006/main">
            <a:r>
              <a:t>4. Upload a clear asset photograph to private S3 and generate a structured description.</a:t>
            </a:r>
          </a:p>
          <a:p xmlns:a="http://schemas.openxmlformats.org/drawingml/2006/main">
            <a:r>
              <a:t>5. Edit an AI-generated field and confirm before saving.</a:t>
            </a:r>
          </a:p>
          <a:p xmlns:a="http://schemas.openxmlformats.org/drawingml/2006/main">
            <a:r>
              <a:t>6. Use a genuinely unclear image to demonstrate manual fallback.</a:t>
            </a:r>
          </a:p>
          <a:p xmlns:a="http://schemas.openxmlformats.org/drawingml/2006/main">
            <a:r>
              <a:t>7. Show original purchase value, annual and accumulated depreciation, current book value, life-used percentage and replacement date. Requirement example: purchase $1,500, salvage $100, useful life 4 years, annual $350, accumulated $700 at 2 years, book value $800. Salvage is the floor.</a:t>
            </a:r>
          </a:p>
          <a:p xmlns:a="http://schemas.openxmlformats.org/drawingml/2006/main">
            <a:r>
              <a:t>8. Save a maintenance record and show it in history; compare the schedule before and after.</a:t>
            </a:r>
          </a:p>
          <a:p xmlns:a="http://schemas.openxmlformats.org/drawingml/2006/main">
            <a:r>
              <a:t>9. Generate advice with priority, action, completion date, interval/replacement window and explanation. AI advice needs human review and does not guarantee failure prediction.</a:t>
            </a:r>
          </a:p>
          <a:p xmlns:a="http://schemas.openxmlformats.org/drawingml/2006/main">
            <a:r>
              <a:t>10. Sign in as Auditor and demonstrate a blocked write. Also show private photograph access for authorized users.</a:t>
            </a:r>
          </a:p>
          <a:p xmlns:a="http://schemas.openxmlformats.org/drawingml/2006/main">
            <a:r>
              <a:t>11. Show a real CloudWatch log or alarm and a prepared scheduler run plus received SNS email. Do not wait for the daily schedule live.</a:t>
            </a:r>
          </a:p>
          <a:p xmlns:a="http://schemas.openxmlformats.org/drawingml/2006/main">
            <a:r>
              <a:t>12. Log out and demonstrate loss of protected access.</a:t>
            </a:r>
          </a:p>
          <a:p xmlns:a="http://schemas.openxmlformats.org/drawingml/2006/main">
            <a:r>
              <a:t>Prepare genuine completed-state screenshots as backup. Supplied Week 3 maintenance screenshot was an empty workspace and is deliberately not used as evidence of completion in this final deck.</a:t>
            </a:r>
          </a:p>
          <a:p xmlns:a="http://schemas.openxmlformats.org/drawingml/2006/main">
            <a:r>
              <a:t>Sources: supplied Assest Tracker Requirements.pdf and Week 3 presentation; project context for cost and confirmed contributions.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final security pass/fail report or CloudWatch captures were supplied. Before the meeting, replace the acceptance-evidence statement with verified results. Keep a result table with test, role, expected result, actual result, date and evidence in the submission. Verify credentials/tokens are absent from source. Show an actual CloudWatch screenshot or the live console. CI and unit tests do not establish successful deployment behavior.</a:t>
            </a:r>
          </a:p>
          <a:p xmlns:a="http://schemas.openxmlformats.org/drawingml/2006/main">
            <a:r>
              <a:t>Sources: supplied Assest Tracker Requirements.pdf and Week 3 presentation; project context for cost and confirmed contributions.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group2-aws-cost-estimate(1).pdf and .json, export date 4 October 2026; group2-aws-pricing-team-guide(1).docx, version 2.2, 4 October 2026. Both exports report monthly USD 3.55, annual USD 42.60 and upfront USD 0.00. Daily average: 3.55/30 = 0.1183, approximately USD 0.12. Previous USD 3.25 and USD 39.00 figures are superseded.</a:t>
            </a:r>
          </a:p>
          <a:p xmlns:a="http://schemas.openxmlformats.org/drawingml/2006/main">
            <a:r>
              <a:t>The revised estimate includes three CloudWatch alarms (USD 0.30 additional). Cost guide includes assumptions, reproducibility, suggested USD 10/month budget and detailed cleanup instructions. No AWS budget or live inventory was configured/verified during estimation.</a:t>
            </a:r>
          </a:p>
          <a:p xmlns:a="http://schemas.openxmlformats.org/drawingml/2006/main">
            <a:r>
              <a:t>Before final submission, verify Budget availability in the lab; remove unnecessary images/records and personal test data. After grading, follow instructor instructions, delete the stack and verify retained DynamoDB and S3 resources, backups, log groups, Amplify, deployment artifacts, script-created alarms, shared SNS resources and any separate EventBridge schedules. Stack deletion alone does not remove Retain resources or resources managed outside SAM.</a:t>
            </a:r>
          </a:p>
          <a:p xmlns:a="http://schemas.openxmlformats.org/drawingml/2006/main">
            <a:r>
              <a:t>Export caveat: JSON Bedrock Properties show 8 hours/day and 1/1 tokens while the relevant PDF model section and guide specify 1 hour/day and 1,000/500 tokens. PDF also includes duplicate/default-looking fields. Totals agree, but the JSON does not reliably document the intended input configuration. Verify the saved Calculator configuration and regenerate the exports before calling them fully reproducible. Do not manually rewrite raw Calculator exports.</a:t>
            </a:r>
          </a:p>
          <a:p xmlns:a="http://schemas.openxmlformats.org/drawingml/2006/main">
            <a:r>
              <a:t>The guide treats EventBridge as planned and SNS as CloudWatch alarm/recovery notifications. Verify final maintenance notification resources and reconcile them with the cost assumptions. Actual usage, taxes and account-wide allowances were not audited.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Confirmed contributions from supplied project context: Ema photo-analysis workflow and Amplify; Giovanni backend/infrastructure changes reviewed in pull requests; Mladen AWS cost estimate and PR reviews. Ask Ashok, Gergely and Richard to provide their final contribution summaries, then replace the visible pending entries. Confirm all member attributions with the team. Reflection points are discussion themes; add one actual challenge, resolution and lesson to the short written reflection.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application URL provided by Mladen: https://main.dx980x98nt3d5.amplifyapp.com/ . Git repository: https://github.com/PellizzoniCode/saltracker . Cognito login is required. Share evaluator access separately; do not include passwords or tokens in the submission. Deliver the architecture, IaC templates, DynamoDB model, Cognito permissions, screenshots, depreciation documentation, AI prompt and structured output, security test results, CloudWatch evidence, cost estimate, team contribution summary, final slides and short reflection. Confirm remaining deployment evidence and team contributions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e50e879dd342f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c5deb811a6e45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8785365fa3841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9e25a21c518459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f299bade861473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ae6c6d5388043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21B81F2-EE81-44B3-9D7F-83E6F7A13981}"/>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EB1F0427-804B-41A2-81B8-E37CCEB02B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DDBB2D-414A-4968-92C5-BFE83017C06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355113B2-50E4-4B59-9E6D-15BA1893E017}"/>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0AC00D46-5C0B-4C1A-8140-E8F842DEC76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1DB489B-76C5-40C7-BC75-E41DD2FB8C0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E058CCA4-D680-4DE7-9EBD-DFAE437219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213F18F4-7A86-451B-B59C-A1315322B33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75CCE104-5445-4525-BAE2-9030A51B41A4}"/>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6F5C590-5960-4E3D-9B55-75EC9FB837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BB80C2B-95D9-4147-9F37-ECD745B4F9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E9A838EC-97BD-4A71-961E-7A8BE68D5B1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2198A1C-2ABB-4F0F-82D8-6977B160A3A2}"/>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204B25-EC84-4AF9-BFBE-396A773077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3C89CE5C-A610-40D7-9AE4-6A63E26791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d86e5ed7e24ff7" /><Relationship Type="http://schemas.openxmlformats.org/officeDocument/2006/relationships/slideLayout" Target="/ppt/slideLayouts/slideLayout1.xml" Id="R419c970e38224e28" /><Relationship Type="http://schemas.openxmlformats.org/officeDocument/2006/relationships/slideLayout" Target="/ppt/slideLayouts/slideLayout2.xml" Id="Reec27a051eeb4b20" /><Relationship Type="http://schemas.openxmlformats.org/officeDocument/2006/relationships/slideLayout" Target="/ppt/slideLayouts/slideLayout3.xml" Id="R8817578c73c74d09" /><Relationship Type="http://schemas.openxmlformats.org/officeDocument/2006/relationships/slideLayout" Target="/ppt/slideLayouts/slideLayout4.xml" Id="Rb8980b5cc6a94607" /><Relationship Type="http://schemas.openxmlformats.org/officeDocument/2006/relationships/slideLayout" Target="/ppt/slideLayouts/slideLayout5.xml" Id="R735ed91fa4a94fb8" /><Relationship Type="http://schemas.openxmlformats.org/officeDocument/2006/relationships/slideLayout" Target="/ppt/slideLayouts/slideLayout6.xml" Id="R8661e5cdaa9543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9c970e38224e28"/>
    <p:sldLayoutId xmlns:r="http://schemas.openxmlformats.org/officeDocument/2006/relationships" id="2147483650" r:id="Reec27a051eeb4b20"/>
    <p:sldLayoutId xmlns:r="http://schemas.openxmlformats.org/officeDocument/2006/relationships" id="2147483651" r:id="R8817578c73c74d09"/>
    <p:sldLayoutId xmlns:r="http://schemas.openxmlformats.org/officeDocument/2006/relationships" id="2147483652" r:id="Rb8980b5cc6a94607"/>
    <p:sldLayoutId xmlns:r="http://schemas.openxmlformats.org/officeDocument/2006/relationships" id="2147483653" r:id="R735ed91fa4a94fb8"/>
    <p:sldLayoutId xmlns:r="http://schemas.openxmlformats.org/officeDocument/2006/relationships" id="2147483654" r:id="R8661e5cdaa9543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d62da7ecb0a4472" /><Relationship Type="http://schemas.openxmlformats.org/officeDocument/2006/relationships/notesSlide" Target="/ppt/notesSlides/notesSlide1.xml" Id="Re3393c168f8a4b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c4825d6a5eb437b" /><Relationship Type="http://schemas.openxmlformats.org/officeDocument/2006/relationships/notesSlide" Target="/ppt/notesSlides/notesSlide2.xml" Id="R61ef7497a9cb40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7f952b6f31040eb" /><Relationship Type="http://schemas.openxmlformats.org/officeDocument/2006/relationships/notesSlide" Target="/ppt/notesSlides/notesSlide3.xml" Id="R9fbbad644aac4a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cf992e0359b4719" /><Relationship Type="http://schemas.openxmlformats.org/officeDocument/2006/relationships/image" Target="/ppt/media/image.png" Id="Rf9f4e3543bc24dc7" /><Relationship Type="http://schemas.openxmlformats.org/officeDocument/2006/relationships/image" Target="/ppt/media/image2.png" Id="R50f8bfb836cc4e01" /><Relationship Type="http://schemas.openxmlformats.org/officeDocument/2006/relationships/image" Target="/ppt/media/image3.png" Id="R532291f73054489f" /><Relationship Type="http://schemas.openxmlformats.org/officeDocument/2006/relationships/image" Target="/ppt/media/image4.png" Id="R91467b48a2464124" /><Relationship Type="http://schemas.openxmlformats.org/officeDocument/2006/relationships/image" Target="/ppt/media/image5.png" Id="R6dfe68008f764da5" /><Relationship Type="http://schemas.openxmlformats.org/officeDocument/2006/relationships/image" Target="/ppt/media/image6.png" Id="R2769acbb9f55421b" /><Relationship Type="http://schemas.openxmlformats.org/officeDocument/2006/relationships/image" Target="/ppt/media/image7.png" Id="Rad19b593a84045ae" /><Relationship Type="http://schemas.openxmlformats.org/officeDocument/2006/relationships/image" Target="/ppt/media/image8.png" Id="R3fe84365e00c4ad2" /><Relationship Type="http://schemas.openxmlformats.org/officeDocument/2006/relationships/image" Target="/ppt/media/image9.png" Id="R382baf0323c64a87" /><Relationship Type="http://schemas.openxmlformats.org/officeDocument/2006/relationships/image" Target="/ppt/media/image10.png" Id="Ra7334636912b4d7d" /><Relationship Type="http://schemas.openxmlformats.org/officeDocument/2006/relationships/notesSlide" Target="/ppt/notesSlides/notesSlide4.xml" Id="R344b179373c641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6746db5850c459b" /><Relationship Type="http://schemas.openxmlformats.org/officeDocument/2006/relationships/notesSlide" Target="/ppt/notesSlides/notesSlide5.xml" Id="Ree7c0b5a321340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a7dd4f3610443f6" /><Relationship Type="http://schemas.openxmlformats.org/officeDocument/2006/relationships/notesSlide" Target="/ppt/notesSlides/notesSlide6.xml" Id="R384276d9a13b4d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bf2ca643ad34321" /><Relationship Type="http://schemas.openxmlformats.org/officeDocument/2006/relationships/notesSlide" Target="/ppt/notesSlides/notesSlide7.xml" Id="R806bc58cf3b844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f0dbdc5018f47ca" /><Relationship Type="http://schemas.openxmlformats.org/officeDocument/2006/relationships/notesSlide" Target="/ppt/notesSlides/notesSlide8.xml" Id="R48e78517308c4f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846c90b146f4fe3" /><Relationship Type="http://schemas.openxmlformats.org/officeDocument/2006/relationships/notesSlide" Target="/ppt/notesSlides/notesSlide9.xml" Id="R54713fe5d07143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0e0c965ca2f4811" /><Relationship Type="http://schemas.openxmlformats.org/officeDocument/2006/relationships/notesSlide" Target="/ppt/notesSlides/notesSlide10.xml" Id="R2fabddb212604c0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DCD987-F668-419A-AECB-BECC62DD2D6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87F7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EB9786A-27BD-4251-9EEF-90E7DC88840D}"/>
              </a:ext>
            </a:extLst>
          </p:cNvPr>
          <p:cNvSpPr>
            <a:spLocks xmlns:a="http://schemas.openxmlformats.org/drawingml/2006/main" noGrp="1"/>
          </p:cNvSpPr>
          <p:nvPr/>
        </p:nvSpPr>
        <p:spPr>
          <a:xfrm xmlns:a="http://schemas.openxmlformats.org/drawingml/2006/main">
            <a:off x="838200" y="85725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425" b="1">
                <a:solidFill>
                  <a:srgbClr val="287F76"/>
                </a:solidFill>
                <a:latin typeface="DejaVu Sans"/>
                <a:ea typeface="DejaVu Sans"/>
                <a:cs typeface="DejaVu Sans"/>
              </a:defRPr>
            </a:pPr>
            <a:r>
              <a:rPr sz="1425" b="1">
                <a:solidFill>
                  <a:srgbClr val="287F76"/>
                </a:solidFill>
                <a:latin typeface="DejaVu Sans"/>
                <a:ea typeface="DejaVu Sans"/>
                <a:cs typeface="DejaVu Sans"/>
              </a:rPr>
              <a:t>WEEK 4</a:t>
            </a:r>
          </a:p>
        </p:txBody>
      </p:sp>
      <p:sp>
        <p:nvSpPr>
          <p:cNvPr id="3" name="">
            <a:extLst xmlns:a="http://schemas.openxmlformats.org/drawingml/2006/main">
              <a:ext uri="{FF2B5EF4-FFF2-40B4-BE49-F238E27FC236}">
                <a16:creationId xmlns:a16="http://schemas.microsoft.com/office/drawing/2014/main" id="{2CE3AE6A-3FC1-4F35-885A-0E65A08F66BD}"/>
              </a:ext>
            </a:extLst>
          </p:cNvPr>
          <p:cNvSpPr>
            <a:spLocks xmlns:a="http://schemas.openxmlformats.org/drawingml/2006/main" noGrp="1"/>
          </p:cNvSpPr>
          <p:nvPr/>
        </p:nvSpPr>
        <p:spPr>
          <a:xfrm xmlns:a="http://schemas.openxmlformats.org/drawingml/2006/main">
            <a:off x="838200" y="1381125"/>
            <a:ext cx="97155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3525" b="1">
                <a:solidFill>
                  <a:srgbClr val="102A43"/>
                </a:solidFill>
                <a:latin typeface="DejaVu Serif"/>
                <a:ea typeface="DejaVu Serif"/>
                <a:cs typeface="DejaVu Serif"/>
              </a:defRPr>
            </a:pPr>
            <a:r>
              <a:rPr sz="3525" b="1">
                <a:solidFill>
                  <a:srgbClr val="102A43"/>
                </a:solidFill>
                <a:latin typeface="DejaVu Serif"/>
                <a:ea typeface="DejaVu Serif"/>
                <a:cs typeface="DejaVu Serif"/>
              </a:rPr>
              <a:t>AWS Smart Asset</a:t>
            </a:r>
          </a:p>
          <a:p xmlns:a="http://schemas.openxmlformats.org/drawingml/2006/main">
            <a:pPr algn="l">
              <a:buNone/>
              <a:defRPr sz="3525" b="1">
                <a:solidFill>
                  <a:srgbClr val="102A43"/>
                </a:solidFill>
                <a:latin typeface="DejaVu Serif"/>
                <a:ea typeface="DejaVu Serif"/>
                <a:cs typeface="DejaVu Serif"/>
              </a:defRPr>
            </a:pPr>
            <a:r>
              <a:rPr sz="3525" b="1">
                <a:solidFill>
                  <a:srgbClr val="102A43"/>
                </a:solidFill>
                <a:latin typeface="DejaVu Serif"/>
                <a:ea typeface="DejaVu Serif"/>
                <a:cs typeface="DejaVu Serif"/>
              </a:rPr>
              <a:t>Lifecycle Tracker</a:t>
            </a:r>
          </a:p>
        </p:txBody>
      </p:sp>
      <p:sp>
        <p:nvSpPr>
          <p:cNvPr id="4" name="">
            <a:extLst xmlns:a="http://schemas.openxmlformats.org/drawingml/2006/main">
              <a:ext uri="{FF2B5EF4-FFF2-40B4-BE49-F238E27FC236}">
                <a16:creationId xmlns:a16="http://schemas.microsoft.com/office/drawing/2014/main" id="{39321674-BEE3-48E1-976C-6393755502CF}"/>
              </a:ext>
            </a:extLst>
          </p:cNvPr>
          <p:cNvSpPr>
            <a:spLocks xmlns:a="http://schemas.openxmlformats.org/drawingml/2006/main" noGrp="1"/>
          </p:cNvSpPr>
          <p:nvPr/>
        </p:nvSpPr>
        <p:spPr>
          <a:xfrm xmlns:a="http://schemas.openxmlformats.org/drawingml/2006/main">
            <a:off x="857250" y="2819400"/>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800" b="0">
                <a:solidFill>
                  <a:srgbClr val="586E82"/>
                </a:solidFill>
                <a:latin typeface="DejaVu Serif"/>
                <a:ea typeface="DejaVu Serif"/>
                <a:cs typeface="DejaVu Serif"/>
              </a:defRPr>
            </a:pPr>
            <a:r>
              <a:rPr sz="1800" b="0">
                <a:solidFill>
                  <a:srgbClr val="586E82"/>
                </a:solidFill>
                <a:latin typeface="DejaVu Serif"/>
                <a:ea typeface="DejaVu Serif"/>
                <a:cs typeface="DejaVu Serif"/>
              </a:rPr>
              <a:t>Final project presentation — Group 2</a:t>
            </a:r>
          </a:p>
        </p:txBody>
      </p:sp>
      <p:sp>
        <p:nvSpPr>
          <p:cNvPr id="5" name="">
            <a:extLst xmlns:a="http://schemas.openxmlformats.org/drawingml/2006/main">
              <a:ext uri="{FF2B5EF4-FFF2-40B4-BE49-F238E27FC236}">
                <a16:creationId xmlns:a16="http://schemas.microsoft.com/office/drawing/2014/main" id="{121FB9CD-B95B-4B11-BFB9-D3379E829AA8}"/>
              </a:ext>
            </a:extLst>
          </p:cNvPr>
          <p:cNvSpPr>
            <a:spLocks xmlns:a="http://schemas.openxmlformats.org/drawingml/2006/main" noGrp="1"/>
          </p:cNvSpPr>
          <p:nvPr/>
        </p:nvSpPr>
        <p:spPr>
          <a:xfrm xmlns:a="http://schemas.openxmlformats.org/drawingml/2006/main">
            <a:off x="857250" y="3400425"/>
            <a:ext cx="6762750" cy="28575"/>
          </a:xfrm>
          <a:prstGeom xmlns:a="http://schemas.openxmlformats.org/drawingml/2006/main" prst="rect">
            <a:avLst/>
          </a:prstGeom>
          <a:solidFill xmlns:a="http://schemas.openxmlformats.org/drawingml/2006/main">
            <a:srgbClr val="287F76"/>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B1E3EFE-2CEF-4F06-8058-BFBC5AC48D85}"/>
              </a:ext>
            </a:extLst>
          </p:cNvPr>
          <p:cNvSpPr>
            <a:spLocks xmlns:a="http://schemas.openxmlformats.org/drawingml/2006/main" noGrp="1"/>
          </p:cNvSpPr>
          <p:nvPr/>
        </p:nvSpPr>
        <p:spPr>
          <a:xfrm xmlns:a="http://schemas.openxmlformats.org/drawingml/2006/main">
            <a:off x="857250" y="3638550"/>
            <a:ext cx="8858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0">
                <a:solidFill>
                  <a:srgbClr val="182A3A"/>
                </a:solidFill>
                <a:latin typeface="DejaVu Sans"/>
                <a:ea typeface="DejaVu Sans"/>
                <a:cs typeface="DejaVu Sans"/>
              </a:defRPr>
            </a:pPr>
            <a:r>
              <a:rPr sz="1575" b="0">
                <a:solidFill>
                  <a:srgbClr val="182A3A"/>
                </a:solidFill>
                <a:latin typeface="DejaVu Sans"/>
                <a:ea typeface="DejaVu Sans"/>
                <a:cs typeface="DejaVu Sans"/>
              </a:rPr>
              <a:t>A secure AWS application for asset tracking and AI-assisted maintenance</a:t>
            </a:r>
          </a:p>
        </p:txBody>
      </p:sp>
      <p:sp>
        <p:nvSpPr>
          <p:cNvPr id="7" name="">
            <a:extLst xmlns:a="http://schemas.openxmlformats.org/drawingml/2006/main">
              <a:ext uri="{FF2B5EF4-FFF2-40B4-BE49-F238E27FC236}">
                <a16:creationId xmlns:a16="http://schemas.microsoft.com/office/drawing/2014/main" id="{F5948E15-BA58-45ED-93B4-25B06D9CC944}"/>
              </a:ext>
            </a:extLst>
          </p:cNvPr>
          <p:cNvSpPr>
            <a:spLocks xmlns:a="http://schemas.openxmlformats.org/drawingml/2006/main" noGrp="1"/>
          </p:cNvSpPr>
          <p:nvPr/>
        </p:nvSpPr>
        <p:spPr>
          <a:xfrm xmlns:a="http://schemas.openxmlformats.org/drawingml/2006/main">
            <a:off x="857250" y="590550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October 2026</a:t>
            </a:r>
          </a:p>
        </p:txBody>
      </p:sp>
      <p:sp>
        <p:nvSpPr>
          <p:cNvPr id="8" name="">
            <a:extLst xmlns:a="http://schemas.openxmlformats.org/drawingml/2006/main">
              <a:ext uri="{FF2B5EF4-FFF2-40B4-BE49-F238E27FC236}">
                <a16:creationId xmlns:a16="http://schemas.microsoft.com/office/drawing/2014/main" id="{6BE79F63-9F91-4869-8FD1-E2E32D4691E5}"/>
              </a:ext>
            </a:extLst>
          </p:cNvPr>
          <p:cNvSpPr>
            <a:spLocks xmlns:a="http://schemas.openxmlformats.org/drawingml/2006/main" noGrp="1"/>
          </p:cNvSpPr>
          <p:nvPr/>
        </p:nvSpPr>
        <p:spPr>
          <a:xfrm xmlns:a="http://schemas.openxmlformats.org/drawingml/2006/main">
            <a:off x="857250" y="6257925"/>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287F76"/>
                </a:solidFill>
                <a:latin typeface="DejaVu Sans"/>
                <a:ea typeface="DejaVu Sans"/>
                <a:cs typeface="DejaVu Sans"/>
              </a:defRPr>
            </a:pPr>
            <a:r>
              <a:rPr sz="1200" b="0">
                <a:solidFill>
                  <a:srgbClr val="287F76"/>
                </a:solidFill>
                <a:latin typeface="DejaVu Sans"/>
                <a:ea typeface="DejaVu Sans"/>
                <a:cs typeface="DejaVu Sans"/>
              </a:rPr>
              <a:t>AWS Region  us-east-1</a:t>
            </a:r>
          </a:p>
        </p:txBody>
      </p:sp>
      <p:sp>
        <p:nvSpPr>
          <p:cNvPr id="10" name="group2-team-members">
            <a:extLst xmlns:a="http://schemas.openxmlformats.org/drawingml/2006/main">
              <a:ext uri="{FF2B5EF4-FFF2-40B4-BE49-F238E27FC236}">
                <a16:creationId xmlns:a16="http://schemas.microsoft.com/office/drawing/2014/main" id="{978D3DE1-B49C-48D1-84F2-CB7831105B1D}"/>
              </a:ext>
            </a:extLst>
          </p:cNvPr>
          <p:cNvSpPr>
            <a:spLocks xmlns:a="http://schemas.openxmlformats.org/drawingml/2006/main" noGrp="1"/>
          </p:cNvSpPr>
          <p:nvPr/>
        </p:nvSpPr>
        <p:spPr>
          <a:xfrm xmlns:a="http://schemas.openxmlformats.org/drawingml/2006/main">
            <a:off x="857250" y="4314825"/>
            <a:ext cx="10287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350">
                <a:solidFill>
                  <a:srgbClr val="182A3A"/>
                </a:solidFill>
                <a:latin typeface="DejaVu Sans"/>
                <a:ea typeface="DejaVu Sans"/>
                <a:cs typeface="DejaVu Sans"/>
              </a:defRPr>
            </a:pPr>
            <a:r>
              <a:rPr sz="1350">
                <a:solidFill>
                  <a:srgbClr val="182A3A"/>
                </a:solidFill>
                <a:latin typeface="DejaVu Sans"/>
                <a:ea typeface="DejaVu Sans"/>
                <a:cs typeface="DejaVu Sans"/>
              </a:rPr>
              <a:t>Ashok Hota</a:t>
            </a:r>
          </a:p>
          <a:p xmlns:a="http://schemas.openxmlformats.org/drawingml/2006/main">
            <a:pPr algn="l">
              <a:buNone/>
              <a:defRPr sz="1350">
                <a:solidFill>
                  <a:srgbClr val="182A3A"/>
                </a:solidFill>
                <a:latin typeface="DejaVu Sans"/>
                <a:ea typeface="DejaVu Sans"/>
                <a:cs typeface="DejaVu Sans"/>
              </a:defRPr>
            </a:pPr>
            <a:r>
              <a:rPr sz="1350">
                <a:solidFill>
                  <a:srgbClr val="182A3A"/>
                </a:solidFill>
                <a:latin typeface="DejaVu Sans"/>
                <a:ea typeface="DejaVu Sans"/>
                <a:cs typeface="DejaVu Sans"/>
              </a:rPr>
              <a:t>Ema Sena</a:t>
            </a:r>
          </a:p>
          <a:p xmlns:a="http://schemas.openxmlformats.org/drawingml/2006/main">
            <a:pPr algn="l">
              <a:buNone/>
              <a:defRPr sz="1350">
                <a:solidFill>
                  <a:srgbClr val="182A3A"/>
                </a:solidFill>
                <a:latin typeface="DejaVu Sans"/>
                <a:ea typeface="DejaVu Sans"/>
                <a:cs typeface="DejaVu Sans"/>
              </a:defRPr>
            </a:pPr>
            <a:r>
              <a:rPr sz="1350">
                <a:solidFill>
                  <a:srgbClr val="182A3A"/>
                </a:solidFill>
                <a:latin typeface="DejaVu Sans"/>
                <a:ea typeface="DejaVu Sans"/>
                <a:cs typeface="DejaVu Sans"/>
              </a:rPr>
              <a:t>Gergely Pankucsi</a:t>
            </a:r>
          </a:p>
          <a:p xmlns:a="http://schemas.openxmlformats.org/drawingml/2006/main">
            <a:pPr algn="l">
              <a:buNone/>
              <a:defRPr sz="1350">
                <a:solidFill>
                  <a:srgbClr val="182A3A"/>
                </a:solidFill>
                <a:latin typeface="DejaVu Sans"/>
                <a:ea typeface="DejaVu Sans"/>
                <a:cs typeface="DejaVu Sans"/>
              </a:defRPr>
            </a:pPr>
            <a:r>
              <a:rPr sz="1350">
                <a:solidFill>
                  <a:srgbClr val="182A3A"/>
                </a:solidFill>
                <a:latin typeface="DejaVu Sans"/>
                <a:ea typeface="DejaVu Sans"/>
                <a:cs typeface="DejaVu Sans"/>
              </a:rPr>
              <a:t>Giovanni Pellizzoni</a:t>
            </a:r>
          </a:p>
          <a:p xmlns:a="http://schemas.openxmlformats.org/drawingml/2006/main">
            <a:pPr algn="l">
              <a:buNone/>
              <a:defRPr sz="1350">
                <a:solidFill>
                  <a:srgbClr val="182A3A"/>
                </a:solidFill>
                <a:latin typeface="DejaVu Sans"/>
                <a:ea typeface="DejaVu Sans"/>
                <a:cs typeface="DejaVu Sans"/>
              </a:defRPr>
            </a:pPr>
            <a:r>
              <a:rPr sz="1350">
                <a:solidFill>
                  <a:srgbClr val="182A3A"/>
                </a:solidFill>
                <a:latin typeface="DejaVu Sans"/>
                <a:ea typeface="DejaVu Sans"/>
                <a:cs typeface="DejaVu Sans"/>
              </a:rPr>
              <a:t>Richard Asamoah</a:t>
            </a:r>
          </a:p>
          <a:p xmlns:a="http://schemas.openxmlformats.org/drawingml/2006/main">
            <a:pPr algn="l">
              <a:buNone/>
              <a:defRPr sz="1350">
                <a:solidFill>
                  <a:srgbClr val="182A3A"/>
                </a:solidFill>
                <a:latin typeface="DejaVu Sans"/>
                <a:ea typeface="DejaVu Sans"/>
                <a:cs typeface="DejaVu Sans"/>
              </a:defRPr>
            </a:pPr>
            <a:r>
              <a:rPr sz="1350">
                <a:solidFill>
                  <a:srgbClr val="182A3A"/>
                </a:solidFill>
                <a:latin typeface="DejaVu Sans"/>
                <a:ea typeface="DejaVu Sans"/>
                <a:cs typeface="DejaVu Sans"/>
              </a:rPr>
              <a:t>Mladen Mrkić</a:t>
            </a:r>
          </a:p>
        </p:txBody>
      </p:sp>
    </p:spTree>
    <p:extLst>
      <p:ext uri="{BB962C8B-B14F-4D97-AF65-F5344CB8AC3E}">
        <p14:creationId xmlns:p14="http://schemas.microsoft.com/office/powerpoint/2010/main" val="12655716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2013AB7-D327-47A2-803F-42458676F1DC}"/>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550" b="1">
                <a:solidFill>
                  <a:srgbClr val="102A43"/>
                </a:solidFill>
                <a:latin typeface="DejaVu Serif"/>
                <a:ea typeface="DejaVu Serif"/>
                <a:cs typeface="DejaVu Serif"/>
              </a:defRPr>
            </a:pPr>
            <a:r>
              <a:rPr sz="2550" b="1">
                <a:solidFill>
                  <a:srgbClr val="102A43"/>
                </a:solidFill>
                <a:latin typeface="DejaVu Serif"/>
                <a:ea typeface="DejaVu Serif"/>
                <a:cs typeface="DejaVu Serif"/>
              </a:rPr>
              <a:t>Business problem and project goal</a:t>
            </a:r>
          </a:p>
        </p:txBody>
      </p:sp>
      <p:sp>
        <p:nvSpPr>
          <p:cNvPr id="2" name="">
            <a:extLst xmlns:a="http://schemas.openxmlformats.org/drawingml/2006/main">
              <a:ext uri="{FF2B5EF4-FFF2-40B4-BE49-F238E27FC236}">
                <a16:creationId xmlns:a16="http://schemas.microsoft.com/office/drawing/2014/main" id="{C1E1590E-4D74-4448-B7EE-1C427C2FDECB}"/>
              </a:ext>
            </a:extLst>
          </p:cNvPr>
          <p:cNvSpPr>
            <a:spLocks xmlns:a="http://schemas.openxmlformats.org/drawingml/2006/main" noGrp="1"/>
          </p:cNvSpPr>
          <p:nvPr/>
        </p:nvSpPr>
        <p:spPr>
          <a:xfrm xmlns:a="http://schemas.openxmlformats.org/drawingml/2006/main">
            <a:off x="704850" y="9525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Replacing fragmented spreadsheets with a central view of equipment and its lifecycle</a:t>
            </a:r>
          </a:p>
        </p:txBody>
      </p:sp>
      <p:sp>
        <p:nvSpPr>
          <p:cNvPr id="3" name="">
            <a:extLst xmlns:a="http://schemas.openxmlformats.org/drawingml/2006/main">
              <a:ext uri="{FF2B5EF4-FFF2-40B4-BE49-F238E27FC236}">
                <a16:creationId xmlns:a16="http://schemas.microsoft.com/office/drawing/2014/main" id="{679C8370-CC41-4953-8F6D-F8C7BBDA7C51}"/>
              </a:ext>
            </a:extLst>
          </p:cNvPr>
          <p:cNvSpPr>
            <a:spLocks xmlns:a="http://schemas.openxmlformats.org/drawingml/2006/main" noGrp="1"/>
          </p:cNvSpPr>
          <p:nvPr/>
        </p:nvSpPr>
        <p:spPr>
          <a:xfrm xmlns:a="http://schemas.openxmlformats.org/drawingml/2006/main">
            <a:off x="685800" y="1314450"/>
            <a:ext cx="10820400" cy="28575"/>
          </a:xfrm>
          <a:prstGeom xmlns:a="http://schemas.openxmlformats.org/drawingml/2006/main" prst="rect">
            <a:avLst/>
          </a:prstGeom>
          <a:solidFill xmlns:a="http://schemas.openxmlformats.org/drawingml/2006/main">
            <a:srgbClr val="146C9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5AEF9BB-26A0-4F46-A1D2-F4FB6AEC7C95}"/>
              </a:ext>
            </a:extLst>
          </p:cNvPr>
          <p:cNvSpPr>
            <a:spLocks xmlns:a="http://schemas.openxmlformats.org/drawingml/2006/main" noGrp="1"/>
          </p:cNvSpPr>
          <p:nvPr/>
        </p:nvSpPr>
        <p:spPr>
          <a:xfrm xmlns:a="http://schemas.openxmlformats.org/drawingml/2006/main">
            <a:off x="819150" y="17145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2E7D5B"/>
                </a:solidFill>
                <a:latin typeface="DejaVu Serif"/>
                <a:ea typeface="DejaVu Serif"/>
                <a:cs typeface="DejaVu Serif"/>
              </a:defRPr>
            </a:pPr>
            <a:r>
              <a:rPr sz="2250" b="1">
                <a:solidFill>
                  <a:srgbClr val="2E7D5B"/>
                </a:solidFill>
                <a:latin typeface="DejaVu Serif"/>
                <a:ea typeface="DejaVu Serif"/>
                <a:cs typeface="DejaVu Serif"/>
              </a:rPr>
              <a:t>Ownership</a:t>
            </a:r>
          </a:p>
        </p:txBody>
      </p:sp>
      <p:sp>
        <p:nvSpPr>
          <p:cNvPr id="5" name="">
            <a:extLst xmlns:a="http://schemas.openxmlformats.org/drawingml/2006/main">
              <a:ext uri="{FF2B5EF4-FFF2-40B4-BE49-F238E27FC236}">
                <a16:creationId xmlns:a16="http://schemas.microsoft.com/office/drawing/2014/main" id="{60D9E694-2F3D-4C58-BF87-B7BEEF5966A8}"/>
              </a:ext>
            </a:extLst>
          </p:cNvPr>
          <p:cNvSpPr>
            <a:spLocks xmlns:a="http://schemas.openxmlformats.org/drawingml/2006/main" noGrp="1"/>
          </p:cNvSpPr>
          <p:nvPr/>
        </p:nvSpPr>
        <p:spPr>
          <a:xfrm xmlns:a="http://schemas.openxmlformats.org/drawingml/2006/main">
            <a:off x="3143250" y="173355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What equipment do we own?</a:t>
            </a:r>
          </a:p>
        </p:txBody>
      </p:sp>
      <p:sp>
        <p:nvSpPr>
          <p:cNvPr id="6" name="">
            <a:extLst xmlns:a="http://schemas.openxmlformats.org/drawingml/2006/main">
              <a:ext uri="{FF2B5EF4-FFF2-40B4-BE49-F238E27FC236}">
                <a16:creationId xmlns:a16="http://schemas.microsoft.com/office/drawing/2014/main" id="{D08F34AC-9815-4C1E-B3ED-4BAB29D0A4CF}"/>
              </a:ext>
            </a:extLst>
          </p:cNvPr>
          <p:cNvSpPr>
            <a:spLocks xmlns:a="http://schemas.openxmlformats.org/drawingml/2006/main" noGrp="1"/>
          </p:cNvSpPr>
          <p:nvPr/>
        </p:nvSpPr>
        <p:spPr>
          <a:xfrm xmlns:a="http://schemas.openxmlformats.org/drawingml/2006/main">
            <a:off x="819150" y="280987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146C94"/>
                </a:solidFill>
                <a:latin typeface="DejaVu Serif"/>
                <a:ea typeface="DejaVu Serif"/>
                <a:cs typeface="DejaVu Serif"/>
              </a:defRPr>
            </a:pPr>
            <a:r>
              <a:rPr sz="2250" b="1">
                <a:solidFill>
                  <a:srgbClr val="146C94"/>
                </a:solidFill>
                <a:latin typeface="DejaVu Serif"/>
                <a:ea typeface="DejaVu Serif"/>
                <a:cs typeface="DejaVu Serif"/>
              </a:rPr>
              <a:t>Location</a:t>
            </a:r>
          </a:p>
        </p:txBody>
      </p:sp>
      <p:sp>
        <p:nvSpPr>
          <p:cNvPr id="7" name="">
            <a:extLst xmlns:a="http://schemas.openxmlformats.org/drawingml/2006/main">
              <a:ext uri="{FF2B5EF4-FFF2-40B4-BE49-F238E27FC236}">
                <a16:creationId xmlns:a16="http://schemas.microsoft.com/office/drawing/2014/main" id="{BD058715-66FE-4255-91BA-80E2CEB08E7F}"/>
              </a:ext>
            </a:extLst>
          </p:cNvPr>
          <p:cNvSpPr>
            <a:spLocks xmlns:a="http://schemas.openxmlformats.org/drawingml/2006/main" noGrp="1"/>
          </p:cNvSpPr>
          <p:nvPr/>
        </p:nvSpPr>
        <p:spPr>
          <a:xfrm xmlns:a="http://schemas.openxmlformats.org/drawingml/2006/main">
            <a:off x="3143250" y="282892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Where is it and who uses it?</a:t>
            </a:r>
          </a:p>
        </p:txBody>
      </p:sp>
      <p:sp>
        <p:nvSpPr>
          <p:cNvPr id="8" name="">
            <a:extLst xmlns:a="http://schemas.openxmlformats.org/drawingml/2006/main">
              <a:ext uri="{FF2B5EF4-FFF2-40B4-BE49-F238E27FC236}">
                <a16:creationId xmlns:a16="http://schemas.microsoft.com/office/drawing/2014/main" id="{2ACE5045-F37F-4CB8-9B44-9103BE408AF6}"/>
              </a:ext>
            </a:extLst>
          </p:cNvPr>
          <p:cNvSpPr>
            <a:spLocks xmlns:a="http://schemas.openxmlformats.org/drawingml/2006/main" noGrp="1"/>
          </p:cNvSpPr>
          <p:nvPr/>
        </p:nvSpPr>
        <p:spPr>
          <a:xfrm xmlns:a="http://schemas.openxmlformats.org/drawingml/2006/main">
            <a:off x="819150" y="39052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287F76"/>
                </a:solidFill>
                <a:latin typeface="DejaVu Serif"/>
                <a:ea typeface="DejaVu Serif"/>
                <a:cs typeface="DejaVu Serif"/>
              </a:defRPr>
            </a:pPr>
            <a:r>
              <a:rPr sz="2250" b="1">
                <a:solidFill>
                  <a:srgbClr val="287F76"/>
                </a:solidFill>
                <a:latin typeface="DejaVu Serif"/>
                <a:ea typeface="DejaVu Serif"/>
                <a:cs typeface="DejaVu Serif"/>
              </a:rPr>
              <a:t>Value</a:t>
            </a:r>
          </a:p>
        </p:txBody>
      </p:sp>
      <p:sp>
        <p:nvSpPr>
          <p:cNvPr id="9" name="">
            <a:extLst xmlns:a="http://schemas.openxmlformats.org/drawingml/2006/main">
              <a:ext uri="{FF2B5EF4-FFF2-40B4-BE49-F238E27FC236}">
                <a16:creationId xmlns:a16="http://schemas.microsoft.com/office/drawing/2014/main" id="{F60F7CBB-E19C-4749-8FAA-C4596F6DB76C}"/>
              </a:ext>
            </a:extLst>
          </p:cNvPr>
          <p:cNvSpPr>
            <a:spLocks xmlns:a="http://schemas.openxmlformats.org/drawingml/2006/main" noGrp="1"/>
          </p:cNvSpPr>
          <p:nvPr/>
        </p:nvSpPr>
        <p:spPr>
          <a:xfrm xmlns:a="http://schemas.openxmlformats.org/drawingml/2006/main">
            <a:off x="3143250" y="39243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What is it worth today?</a:t>
            </a:r>
          </a:p>
        </p:txBody>
      </p:sp>
      <p:sp>
        <p:nvSpPr>
          <p:cNvPr id="10" name="">
            <a:extLst xmlns:a="http://schemas.openxmlformats.org/drawingml/2006/main">
              <a:ext uri="{FF2B5EF4-FFF2-40B4-BE49-F238E27FC236}">
                <a16:creationId xmlns:a16="http://schemas.microsoft.com/office/drawing/2014/main" id="{1BD946C6-C53C-4D0D-AAD8-B87EA733FAC3}"/>
              </a:ext>
            </a:extLst>
          </p:cNvPr>
          <p:cNvSpPr>
            <a:spLocks xmlns:a="http://schemas.openxmlformats.org/drawingml/2006/main" noGrp="1"/>
          </p:cNvSpPr>
          <p:nvPr/>
        </p:nvSpPr>
        <p:spPr>
          <a:xfrm xmlns:a="http://schemas.openxmlformats.org/drawingml/2006/main">
            <a:off x="819150" y="500062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A66717"/>
                </a:solidFill>
                <a:latin typeface="DejaVu Serif"/>
                <a:ea typeface="DejaVu Serif"/>
                <a:cs typeface="DejaVu Serif"/>
              </a:defRPr>
            </a:pPr>
            <a:r>
              <a:rPr sz="2250" b="1">
                <a:solidFill>
                  <a:srgbClr val="A66717"/>
                </a:solidFill>
                <a:latin typeface="DejaVu Serif"/>
                <a:ea typeface="DejaVu Serif"/>
                <a:cs typeface="DejaVu Serif"/>
              </a:rPr>
              <a:t>Service</a:t>
            </a:r>
          </a:p>
        </p:txBody>
      </p:sp>
      <p:sp>
        <p:nvSpPr>
          <p:cNvPr id="11" name="">
            <a:extLst xmlns:a="http://schemas.openxmlformats.org/drawingml/2006/main">
              <a:ext uri="{FF2B5EF4-FFF2-40B4-BE49-F238E27FC236}">
                <a16:creationId xmlns:a16="http://schemas.microsoft.com/office/drawing/2014/main" id="{6EA3E827-D876-442A-88A8-D06D8A4B0F5F}"/>
              </a:ext>
            </a:extLst>
          </p:cNvPr>
          <p:cNvSpPr>
            <a:spLocks xmlns:a="http://schemas.openxmlformats.org/drawingml/2006/main" noGrp="1"/>
          </p:cNvSpPr>
          <p:nvPr/>
        </p:nvSpPr>
        <p:spPr>
          <a:xfrm xmlns:a="http://schemas.openxmlformats.org/drawingml/2006/main">
            <a:off x="3143250" y="50196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When should we maintain it?</a:t>
            </a:r>
          </a:p>
        </p:txBody>
      </p:sp>
      <p:sp>
        <p:nvSpPr>
          <p:cNvPr id="12" name="">
            <a:extLst xmlns:a="http://schemas.openxmlformats.org/drawingml/2006/main">
              <a:ext uri="{FF2B5EF4-FFF2-40B4-BE49-F238E27FC236}">
                <a16:creationId xmlns:a16="http://schemas.microsoft.com/office/drawing/2014/main" id="{53F56DF7-B41E-4A6C-B7D8-CC0D206EF4EF}"/>
              </a:ext>
            </a:extLst>
          </p:cNvPr>
          <p:cNvSpPr>
            <a:spLocks xmlns:a="http://schemas.openxmlformats.org/drawingml/2006/main" noGrp="1"/>
          </p:cNvSpPr>
          <p:nvPr/>
        </p:nvSpPr>
        <p:spPr>
          <a:xfrm xmlns:a="http://schemas.openxmlformats.org/drawingml/2006/main">
            <a:off x="800100" y="3333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2E7D5B"/>
                </a:solidFill>
                <a:latin typeface="DejaVu Serif"/>
                <a:ea typeface="DejaVu Serif"/>
                <a:cs typeface="DejaVu Serif"/>
              </a:defRPr>
            </a:pPr>
            <a:r>
              <a:rPr sz="1275" b="1">
                <a:solidFill>
                  <a:srgbClr val="2E7D5B"/>
                </a:solidFill>
                <a:latin typeface="DejaVu Serif"/>
                <a:ea typeface="DejaVu Serif"/>
                <a:cs typeface="DejaVu Serif"/>
              </a:rPr>
              <a:t/>
            </a:r>
          </a:p>
        </p:txBody>
      </p:sp>
      <p:sp>
        <p:nvSpPr>
          <p:cNvPr id="13" name="">
            <a:extLst xmlns:a="http://schemas.openxmlformats.org/drawingml/2006/main">
              <a:ext uri="{FF2B5EF4-FFF2-40B4-BE49-F238E27FC236}">
                <a16:creationId xmlns:a16="http://schemas.microsoft.com/office/drawing/2014/main" id="{CF5FEE70-C08B-444A-BCE1-2EB0B9BC8EE9}"/>
              </a:ext>
            </a:extLst>
          </p:cNvPr>
          <p:cNvSpPr>
            <a:spLocks xmlns:a="http://schemas.openxmlformats.org/drawingml/2006/main" noGrp="1"/>
          </p:cNvSpPr>
          <p:nvPr/>
        </p:nvSpPr>
        <p:spPr>
          <a:xfrm xmlns:a="http://schemas.openxmlformats.org/drawingml/2006/main">
            <a:off x="1323975" y="3333750"/>
            <a:ext cx="4286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14" name="">
            <a:extLst xmlns:a="http://schemas.openxmlformats.org/drawingml/2006/main">
              <a:ext uri="{FF2B5EF4-FFF2-40B4-BE49-F238E27FC236}">
                <a16:creationId xmlns:a16="http://schemas.microsoft.com/office/drawing/2014/main" id="{E4C15F42-63D5-4D90-AC59-D4D1237A92ED}"/>
              </a:ext>
            </a:extLst>
          </p:cNvPr>
          <p:cNvSpPr>
            <a:spLocks xmlns:a="http://schemas.openxmlformats.org/drawingml/2006/main" noGrp="1"/>
          </p:cNvSpPr>
          <p:nvPr/>
        </p:nvSpPr>
        <p:spPr>
          <a:xfrm xmlns:a="http://schemas.openxmlformats.org/drawingml/2006/main">
            <a:off x="3143250" y="2085975"/>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Keep asset identity, condition and status in central records.</a:t>
            </a:r>
          </a:p>
        </p:txBody>
      </p:sp>
      <p:sp>
        <p:nvSpPr>
          <p:cNvPr id="15" name="">
            <a:extLst xmlns:a="http://schemas.openxmlformats.org/drawingml/2006/main">
              <a:ext uri="{FF2B5EF4-FFF2-40B4-BE49-F238E27FC236}">
                <a16:creationId xmlns:a16="http://schemas.microsoft.com/office/drawing/2014/main" id="{97897294-EA67-4DB8-9AEF-2EB1B4208ADB}"/>
              </a:ext>
            </a:extLst>
          </p:cNvPr>
          <p:cNvSpPr>
            <a:spLocks xmlns:a="http://schemas.openxmlformats.org/drawingml/2006/main" noGrp="1"/>
          </p:cNvSpPr>
          <p:nvPr/>
        </p:nvSpPr>
        <p:spPr>
          <a:xfrm xmlns:a="http://schemas.openxmlformats.org/drawingml/2006/main">
            <a:off x="800100" y="452437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146C94"/>
                </a:solidFill>
                <a:latin typeface="DejaVu Serif"/>
                <a:ea typeface="DejaVu Serif"/>
                <a:cs typeface="DejaVu Serif"/>
              </a:defRPr>
            </a:pPr>
            <a:r>
              <a:rPr sz="1275" b="1">
                <a:solidFill>
                  <a:srgbClr val="146C94"/>
                </a:solidFill>
                <a:latin typeface="DejaVu Serif"/>
                <a:ea typeface="DejaVu Serif"/>
                <a:cs typeface="DejaVu Serif"/>
              </a:rPr>
              <a:t/>
            </a:r>
          </a:p>
        </p:txBody>
      </p:sp>
      <p:sp>
        <p:nvSpPr>
          <p:cNvPr id="16" name="">
            <a:extLst xmlns:a="http://schemas.openxmlformats.org/drawingml/2006/main">
              <a:ext uri="{FF2B5EF4-FFF2-40B4-BE49-F238E27FC236}">
                <a16:creationId xmlns:a16="http://schemas.microsoft.com/office/drawing/2014/main" id="{9651EFC7-B379-4EE6-A4FF-5EC92A14BF8D}"/>
              </a:ext>
            </a:extLst>
          </p:cNvPr>
          <p:cNvSpPr>
            <a:spLocks xmlns:a="http://schemas.openxmlformats.org/drawingml/2006/main" noGrp="1"/>
          </p:cNvSpPr>
          <p:nvPr/>
        </p:nvSpPr>
        <p:spPr>
          <a:xfrm xmlns:a="http://schemas.openxmlformats.org/drawingml/2006/main">
            <a:off x="1323975" y="4524375"/>
            <a:ext cx="4286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17" name="">
            <a:extLst xmlns:a="http://schemas.openxmlformats.org/drawingml/2006/main">
              <a:ext uri="{FF2B5EF4-FFF2-40B4-BE49-F238E27FC236}">
                <a16:creationId xmlns:a16="http://schemas.microsoft.com/office/drawing/2014/main" id="{C656C5FE-6598-4848-9BDE-1FA2A9BB670D}"/>
              </a:ext>
            </a:extLst>
          </p:cNvPr>
          <p:cNvSpPr>
            <a:spLocks xmlns:a="http://schemas.openxmlformats.org/drawingml/2006/main" noGrp="1"/>
          </p:cNvSpPr>
          <p:nvPr/>
        </p:nvSpPr>
        <p:spPr>
          <a:xfrm xmlns:a="http://schemas.openxmlformats.org/drawingml/2006/main">
            <a:off x="3143250" y="3181350"/>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Track assignment and location, with access appropriate to each user’s role.</a:t>
            </a:r>
          </a:p>
        </p:txBody>
      </p:sp>
      <p:sp>
        <p:nvSpPr>
          <p:cNvPr id="18" name="">
            <a:extLst xmlns:a="http://schemas.openxmlformats.org/drawingml/2006/main">
              <a:ext uri="{FF2B5EF4-FFF2-40B4-BE49-F238E27FC236}">
                <a16:creationId xmlns:a16="http://schemas.microsoft.com/office/drawing/2014/main" id="{3763A7B7-C21E-44B7-98DD-F228B631E4FF}"/>
              </a:ext>
            </a:extLst>
          </p:cNvPr>
          <p:cNvSpPr>
            <a:spLocks xmlns:a="http://schemas.openxmlformats.org/drawingml/2006/main" noGrp="1"/>
          </p:cNvSpPr>
          <p:nvPr/>
        </p:nvSpPr>
        <p:spPr>
          <a:xfrm xmlns:a="http://schemas.openxmlformats.org/drawingml/2006/main">
            <a:off x="6381750" y="3333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287F76"/>
                </a:solidFill>
                <a:latin typeface="DejaVu Serif"/>
                <a:ea typeface="DejaVu Serif"/>
                <a:cs typeface="DejaVu Serif"/>
              </a:defRPr>
            </a:pPr>
            <a:r>
              <a:rPr sz="1275" b="1">
                <a:solidFill>
                  <a:srgbClr val="287F76"/>
                </a:solidFill>
                <a:latin typeface="DejaVu Serif"/>
                <a:ea typeface="DejaVu Serif"/>
                <a:cs typeface="DejaVu Serif"/>
              </a:rPr>
              <a:t/>
            </a:r>
          </a:p>
        </p:txBody>
      </p:sp>
      <p:sp>
        <p:nvSpPr>
          <p:cNvPr id="19" name="">
            <a:extLst xmlns:a="http://schemas.openxmlformats.org/drawingml/2006/main">
              <a:ext uri="{FF2B5EF4-FFF2-40B4-BE49-F238E27FC236}">
                <a16:creationId xmlns:a16="http://schemas.microsoft.com/office/drawing/2014/main" id="{8BCAF582-8EF3-4936-A0AE-B0A5C7937593}"/>
              </a:ext>
            </a:extLst>
          </p:cNvPr>
          <p:cNvSpPr>
            <a:spLocks xmlns:a="http://schemas.openxmlformats.org/drawingml/2006/main" noGrp="1"/>
          </p:cNvSpPr>
          <p:nvPr/>
        </p:nvSpPr>
        <p:spPr>
          <a:xfrm xmlns:a="http://schemas.openxmlformats.org/drawingml/2006/main">
            <a:off x="6905625" y="3333750"/>
            <a:ext cx="4333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20" name="">
            <a:extLst xmlns:a="http://schemas.openxmlformats.org/drawingml/2006/main">
              <a:ext uri="{FF2B5EF4-FFF2-40B4-BE49-F238E27FC236}">
                <a16:creationId xmlns:a16="http://schemas.microsoft.com/office/drawing/2014/main" id="{E0A7F7B1-A6BF-4643-B8DA-D57261ABCA8F}"/>
              </a:ext>
            </a:extLst>
          </p:cNvPr>
          <p:cNvSpPr>
            <a:spLocks xmlns:a="http://schemas.openxmlformats.org/drawingml/2006/main" noGrp="1"/>
          </p:cNvSpPr>
          <p:nvPr/>
        </p:nvSpPr>
        <p:spPr>
          <a:xfrm xmlns:a="http://schemas.openxmlformats.org/drawingml/2006/main">
            <a:off x="3143250" y="4276725"/>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Record purchase value and calculate depreciation and expected replacement dates.</a:t>
            </a:r>
          </a:p>
        </p:txBody>
      </p:sp>
      <p:sp>
        <p:nvSpPr>
          <p:cNvPr id="21" name="">
            <a:extLst xmlns:a="http://schemas.openxmlformats.org/drawingml/2006/main">
              <a:ext uri="{FF2B5EF4-FFF2-40B4-BE49-F238E27FC236}">
                <a16:creationId xmlns:a16="http://schemas.microsoft.com/office/drawing/2014/main" id="{9F1915DA-56FE-45C6-902C-4257CECC6347}"/>
              </a:ext>
            </a:extLst>
          </p:cNvPr>
          <p:cNvSpPr>
            <a:spLocks xmlns:a="http://schemas.openxmlformats.org/drawingml/2006/main" noGrp="1"/>
          </p:cNvSpPr>
          <p:nvPr/>
        </p:nvSpPr>
        <p:spPr>
          <a:xfrm xmlns:a="http://schemas.openxmlformats.org/drawingml/2006/main">
            <a:off x="6381750" y="452437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A66717"/>
                </a:solidFill>
                <a:latin typeface="DejaVu Serif"/>
                <a:ea typeface="DejaVu Serif"/>
                <a:cs typeface="DejaVu Serif"/>
              </a:defRPr>
            </a:pPr>
            <a:r>
              <a:rPr sz="1275" b="1">
                <a:solidFill>
                  <a:srgbClr val="A66717"/>
                </a:solidFill>
                <a:latin typeface="DejaVu Serif"/>
                <a:ea typeface="DejaVu Serif"/>
                <a:cs typeface="DejaVu Serif"/>
              </a:rPr>
              <a:t/>
            </a:r>
          </a:p>
        </p:txBody>
      </p:sp>
      <p:sp>
        <p:nvSpPr>
          <p:cNvPr id="22" name="">
            <a:extLst xmlns:a="http://schemas.openxmlformats.org/drawingml/2006/main">
              <a:ext uri="{FF2B5EF4-FFF2-40B4-BE49-F238E27FC236}">
                <a16:creationId xmlns:a16="http://schemas.microsoft.com/office/drawing/2014/main" id="{046B8F7B-D798-44B9-A834-C3457123517A}"/>
              </a:ext>
            </a:extLst>
          </p:cNvPr>
          <p:cNvSpPr>
            <a:spLocks xmlns:a="http://schemas.openxmlformats.org/drawingml/2006/main" noGrp="1"/>
          </p:cNvSpPr>
          <p:nvPr/>
        </p:nvSpPr>
        <p:spPr>
          <a:xfrm xmlns:a="http://schemas.openxmlformats.org/drawingml/2006/main">
            <a:off x="6905625" y="4524375"/>
            <a:ext cx="4333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23" name="">
            <a:extLst xmlns:a="http://schemas.openxmlformats.org/drawingml/2006/main">
              <a:ext uri="{FF2B5EF4-FFF2-40B4-BE49-F238E27FC236}">
                <a16:creationId xmlns:a16="http://schemas.microsoft.com/office/drawing/2014/main" id="{5E215ED2-3507-4287-B921-2B5493FD589E}"/>
              </a:ext>
            </a:extLst>
          </p:cNvPr>
          <p:cNvSpPr>
            <a:spLocks xmlns:a="http://schemas.openxmlformats.org/drawingml/2006/main" noGrp="1"/>
          </p:cNvSpPr>
          <p:nvPr/>
        </p:nvSpPr>
        <p:spPr>
          <a:xfrm xmlns:a="http://schemas.openxmlformats.org/drawingml/2006/main">
            <a:off x="3143250" y="5372100"/>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Use maintenance history and AI-assisted guidance to plan cleaning, service or replacement.</a:t>
            </a:r>
          </a:p>
        </p:txBody>
      </p:sp>
      <p:sp>
        <p:nvSpPr>
          <p:cNvPr id="24" name="">
            <a:extLst xmlns:a="http://schemas.openxmlformats.org/drawingml/2006/main">
              <a:ext uri="{FF2B5EF4-FFF2-40B4-BE49-F238E27FC236}">
                <a16:creationId xmlns:a16="http://schemas.microsoft.com/office/drawing/2014/main" id="{589C6615-BE55-4876-AF7D-5A64750B41CE}"/>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AWS Smart Asset Lifecycle Tracker  |  Week 4</a:t>
            </a:r>
          </a:p>
        </p:txBody>
      </p:sp>
      <p:sp>
        <p:nvSpPr>
          <p:cNvPr id="25" name="">
            <a:extLst xmlns:a="http://schemas.openxmlformats.org/drawingml/2006/main">
              <a:ext uri="{FF2B5EF4-FFF2-40B4-BE49-F238E27FC236}">
                <a16:creationId xmlns:a16="http://schemas.microsoft.com/office/drawing/2014/main" id="{284C6E9B-4738-47F5-8C9C-71E3AE1832C9}"/>
              </a:ext>
            </a:extLst>
          </p:cNvPr>
          <p:cNvSpPr>
            <a:spLocks xmlns:a="http://schemas.openxmlformats.org/drawingml/2006/main" noGrp="1"/>
          </p:cNvSpPr>
          <p:nvPr/>
        </p:nvSpPr>
        <p:spPr>
          <a:xfrm xmlns:a="http://schemas.openxmlformats.org/drawingml/2006/main">
            <a:off x="108394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02</a:t>
            </a:r>
          </a:p>
        </p:txBody>
      </p:sp>
    </p:spTree>
    <p:extLst>
      <p:ext uri="{BB962C8B-B14F-4D97-AF65-F5344CB8AC3E}">
        <p14:creationId xmlns:p14="http://schemas.microsoft.com/office/powerpoint/2010/main" val="14077954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2013AB7-D327-47A2-803F-42458676F1DC}"/>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550" b="1">
                <a:solidFill>
                  <a:srgbClr val="102A43"/>
                </a:solidFill>
                <a:latin typeface="DejaVu Serif"/>
                <a:ea typeface="DejaVu Serif"/>
                <a:cs typeface="DejaVu Serif"/>
              </a:defRPr>
            </a:pPr>
            <a:r>
              <a:rPr sz="2550" b="1">
                <a:solidFill>
                  <a:srgbClr val="102A43"/>
                </a:solidFill>
                <a:latin typeface="DejaVu Serif"/>
                <a:ea typeface="DejaVu Serif"/>
                <a:cs typeface="DejaVu Serif"/>
              </a:rPr>
              <a:t>Solution overview</a:t>
            </a:r>
          </a:p>
        </p:txBody>
      </p:sp>
      <p:sp>
        <p:nvSpPr>
          <p:cNvPr id="2" name="">
            <a:extLst xmlns:a="http://schemas.openxmlformats.org/drawingml/2006/main">
              <a:ext uri="{FF2B5EF4-FFF2-40B4-BE49-F238E27FC236}">
                <a16:creationId xmlns:a16="http://schemas.microsoft.com/office/drawing/2014/main" id="{C1E1590E-4D74-4448-B7EE-1C427C2FDECB}"/>
              </a:ext>
            </a:extLst>
          </p:cNvPr>
          <p:cNvSpPr>
            <a:spLocks xmlns:a="http://schemas.openxmlformats.org/drawingml/2006/main" noGrp="1"/>
          </p:cNvSpPr>
          <p:nvPr/>
        </p:nvSpPr>
        <p:spPr>
          <a:xfrm xmlns:a="http://schemas.openxmlformats.org/drawingml/2006/main">
            <a:off x="704850" y="9525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One asset lifecycle connects registration, financial tracking and maintenance</a:t>
            </a:r>
          </a:p>
        </p:txBody>
      </p:sp>
      <p:sp>
        <p:nvSpPr>
          <p:cNvPr id="3" name="">
            <a:extLst xmlns:a="http://schemas.openxmlformats.org/drawingml/2006/main">
              <a:ext uri="{FF2B5EF4-FFF2-40B4-BE49-F238E27FC236}">
                <a16:creationId xmlns:a16="http://schemas.microsoft.com/office/drawing/2014/main" id="{679C8370-CC41-4953-8F6D-F8C7BBDA7C51}"/>
              </a:ext>
            </a:extLst>
          </p:cNvPr>
          <p:cNvSpPr>
            <a:spLocks xmlns:a="http://schemas.openxmlformats.org/drawingml/2006/main" noGrp="1"/>
          </p:cNvSpPr>
          <p:nvPr/>
        </p:nvSpPr>
        <p:spPr>
          <a:xfrm xmlns:a="http://schemas.openxmlformats.org/drawingml/2006/main">
            <a:off x="685800" y="1314450"/>
            <a:ext cx="10820400" cy="28575"/>
          </a:xfrm>
          <a:prstGeom xmlns:a="http://schemas.openxmlformats.org/drawingml/2006/main" prst="rect">
            <a:avLst/>
          </a:prstGeom>
          <a:solidFill xmlns:a="http://schemas.openxmlformats.org/drawingml/2006/main">
            <a:srgbClr val="146C9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5AEF9BB-26A0-4F46-A1D2-F4FB6AEC7C95}"/>
              </a:ext>
            </a:extLst>
          </p:cNvPr>
          <p:cNvSpPr>
            <a:spLocks xmlns:a="http://schemas.openxmlformats.org/drawingml/2006/main" noGrp="1"/>
          </p:cNvSpPr>
          <p:nvPr/>
        </p:nvSpPr>
        <p:spPr>
          <a:xfrm xmlns:a="http://schemas.openxmlformats.org/drawingml/2006/main">
            <a:off x="819150" y="17145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2E7D5B"/>
                </a:solidFill>
                <a:latin typeface="DejaVu Serif"/>
                <a:ea typeface="DejaVu Serif"/>
                <a:cs typeface="DejaVu Serif"/>
              </a:defRPr>
            </a:pPr>
            <a:r>
              <a:rPr sz="2250" b="1">
                <a:solidFill>
                  <a:srgbClr val="2E7D5B"/>
                </a:solidFill>
                <a:latin typeface="DejaVu Serif"/>
                <a:ea typeface="DejaVu Serif"/>
                <a:cs typeface="DejaVu Serif"/>
              </a:rPr>
              <a:t>Register</a:t>
            </a:r>
          </a:p>
        </p:txBody>
      </p:sp>
      <p:sp>
        <p:nvSpPr>
          <p:cNvPr id="5" name="">
            <a:extLst xmlns:a="http://schemas.openxmlformats.org/drawingml/2006/main">
              <a:ext uri="{FF2B5EF4-FFF2-40B4-BE49-F238E27FC236}">
                <a16:creationId xmlns:a16="http://schemas.microsoft.com/office/drawing/2014/main" id="{60D9E694-2F3D-4C58-BF87-B7BEEF5966A8}"/>
              </a:ext>
            </a:extLst>
          </p:cNvPr>
          <p:cNvSpPr>
            <a:spLocks xmlns:a="http://schemas.openxmlformats.org/drawingml/2006/main" noGrp="1"/>
          </p:cNvSpPr>
          <p:nvPr/>
        </p:nvSpPr>
        <p:spPr>
          <a:xfrm xmlns:a="http://schemas.openxmlformats.org/drawingml/2006/main">
            <a:off x="3143250" y="173355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Manual entry or photo identification</a:t>
            </a:r>
          </a:p>
        </p:txBody>
      </p:sp>
      <p:sp>
        <p:nvSpPr>
          <p:cNvPr id="6" name="">
            <a:extLst xmlns:a="http://schemas.openxmlformats.org/drawingml/2006/main">
              <a:ext uri="{FF2B5EF4-FFF2-40B4-BE49-F238E27FC236}">
                <a16:creationId xmlns:a16="http://schemas.microsoft.com/office/drawing/2014/main" id="{D08F34AC-9815-4C1E-B3ED-4BAB29D0A4CF}"/>
              </a:ext>
            </a:extLst>
          </p:cNvPr>
          <p:cNvSpPr>
            <a:spLocks xmlns:a="http://schemas.openxmlformats.org/drawingml/2006/main" noGrp="1"/>
          </p:cNvSpPr>
          <p:nvPr/>
        </p:nvSpPr>
        <p:spPr>
          <a:xfrm xmlns:a="http://schemas.openxmlformats.org/drawingml/2006/main">
            <a:off x="819150" y="280987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146C94"/>
                </a:solidFill>
                <a:latin typeface="DejaVu Serif"/>
                <a:ea typeface="DejaVu Serif"/>
                <a:cs typeface="DejaVu Serif"/>
              </a:defRPr>
            </a:pPr>
            <a:r>
              <a:rPr sz="2250" b="1">
                <a:solidFill>
                  <a:srgbClr val="146C94"/>
                </a:solidFill>
                <a:latin typeface="DejaVu Serif"/>
                <a:ea typeface="DejaVu Serif"/>
                <a:cs typeface="DejaVu Serif"/>
              </a:rPr>
              <a:t>Review</a:t>
            </a:r>
          </a:p>
        </p:txBody>
      </p:sp>
      <p:sp>
        <p:nvSpPr>
          <p:cNvPr id="7" name="">
            <a:extLst xmlns:a="http://schemas.openxmlformats.org/drawingml/2006/main">
              <a:ext uri="{FF2B5EF4-FFF2-40B4-BE49-F238E27FC236}">
                <a16:creationId xmlns:a16="http://schemas.microsoft.com/office/drawing/2014/main" id="{BD058715-66FE-4255-91BA-80E2CEB08E7F}"/>
              </a:ext>
            </a:extLst>
          </p:cNvPr>
          <p:cNvSpPr>
            <a:spLocks xmlns:a="http://schemas.openxmlformats.org/drawingml/2006/main" noGrp="1"/>
          </p:cNvSpPr>
          <p:nvPr/>
        </p:nvSpPr>
        <p:spPr>
          <a:xfrm xmlns:a="http://schemas.openxmlformats.org/drawingml/2006/main">
            <a:off x="3143250" y="282892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User approval before saving</a:t>
            </a:r>
          </a:p>
        </p:txBody>
      </p:sp>
      <p:sp>
        <p:nvSpPr>
          <p:cNvPr id="8" name="">
            <a:extLst xmlns:a="http://schemas.openxmlformats.org/drawingml/2006/main">
              <a:ext uri="{FF2B5EF4-FFF2-40B4-BE49-F238E27FC236}">
                <a16:creationId xmlns:a16="http://schemas.microsoft.com/office/drawing/2014/main" id="{2ACE5045-F37F-4CB8-9B44-9103BE408AF6}"/>
              </a:ext>
            </a:extLst>
          </p:cNvPr>
          <p:cNvSpPr>
            <a:spLocks xmlns:a="http://schemas.openxmlformats.org/drawingml/2006/main" noGrp="1"/>
          </p:cNvSpPr>
          <p:nvPr/>
        </p:nvSpPr>
        <p:spPr>
          <a:xfrm xmlns:a="http://schemas.openxmlformats.org/drawingml/2006/main">
            <a:off x="819150" y="39052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287F76"/>
                </a:solidFill>
                <a:latin typeface="DejaVu Serif"/>
                <a:ea typeface="DejaVu Serif"/>
                <a:cs typeface="DejaVu Serif"/>
              </a:defRPr>
            </a:pPr>
            <a:r>
              <a:rPr sz="2250" b="1">
                <a:solidFill>
                  <a:srgbClr val="287F76"/>
                </a:solidFill>
                <a:latin typeface="DejaVu Serif"/>
                <a:ea typeface="DejaVu Serif"/>
                <a:cs typeface="DejaVu Serif"/>
              </a:rPr>
              <a:t>Calculate</a:t>
            </a:r>
          </a:p>
        </p:txBody>
      </p:sp>
      <p:sp>
        <p:nvSpPr>
          <p:cNvPr id="9" name="">
            <a:extLst xmlns:a="http://schemas.openxmlformats.org/drawingml/2006/main">
              <a:ext uri="{FF2B5EF4-FFF2-40B4-BE49-F238E27FC236}">
                <a16:creationId xmlns:a16="http://schemas.microsoft.com/office/drawing/2014/main" id="{F60F7CBB-E19C-4749-8FAA-C4596F6DB76C}"/>
              </a:ext>
            </a:extLst>
          </p:cNvPr>
          <p:cNvSpPr>
            <a:spLocks xmlns:a="http://schemas.openxmlformats.org/drawingml/2006/main" noGrp="1"/>
          </p:cNvSpPr>
          <p:nvPr/>
        </p:nvSpPr>
        <p:spPr>
          <a:xfrm xmlns:a="http://schemas.openxmlformats.org/drawingml/2006/main">
            <a:off x="3143250" y="39243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Current value and replacement</a:t>
            </a:r>
          </a:p>
        </p:txBody>
      </p:sp>
      <p:sp>
        <p:nvSpPr>
          <p:cNvPr id="10" name="">
            <a:extLst xmlns:a="http://schemas.openxmlformats.org/drawingml/2006/main">
              <a:ext uri="{FF2B5EF4-FFF2-40B4-BE49-F238E27FC236}">
                <a16:creationId xmlns:a16="http://schemas.microsoft.com/office/drawing/2014/main" id="{1BD946C6-C53C-4D0D-AAD8-B87EA733FAC3}"/>
              </a:ext>
            </a:extLst>
          </p:cNvPr>
          <p:cNvSpPr>
            <a:spLocks xmlns:a="http://schemas.openxmlformats.org/drawingml/2006/main" noGrp="1"/>
          </p:cNvSpPr>
          <p:nvPr/>
        </p:nvSpPr>
        <p:spPr>
          <a:xfrm xmlns:a="http://schemas.openxmlformats.org/drawingml/2006/main">
            <a:off x="819150" y="500062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A66717"/>
                </a:solidFill>
                <a:latin typeface="DejaVu Serif"/>
                <a:ea typeface="DejaVu Serif"/>
                <a:cs typeface="DejaVu Serif"/>
              </a:defRPr>
            </a:pPr>
            <a:r>
              <a:rPr sz="2250" b="1">
                <a:solidFill>
                  <a:srgbClr val="A66717"/>
                </a:solidFill>
                <a:latin typeface="DejaVu Serif"/>
                <a:ea typeface="DejaVu Serif"/>
                <a:cs typeface="DejaVu Serif"/>
              </a:rPr>
              <a:t>Maintain</a:t>
            </a:r>
          </a:p>
        </p:txBody>
      </p:sp>
      <p:sp>
        <p:nvSpPr>
          <p:cNvPr id="11" name="">
            <a:extLst xmlns:a="http://schemas.openxmlformats.org/drawingml/2006/main">
              <a:ext uri="{FF2B5EF4-FFF2-40B4-BE49-F238E27FC236}">
                <a16:creationId xmlns:a16="http://schemas.microsoft.com/office/drawing/2014/main" id="{6EA3E827-D876-442A-88A8-D06D8A4B0F5F}"/>
              </a:ext>
            </a:extLst>
          </p:cNvPr>
          <p:cNvSpPr>
            <a:spLocks xmlns:a="http://schemas.openxmlformats.org/drawingml/2006/main" noGrp="1"/>
          </p:cNvSpPr>
          <p:nvPr/>
        </p:nvSpPr>
        <p:spPr>
          <a:xfrm xmlns:a="http://schemas.openxmlformats.org/drawingml/2006/main">
            <a:off x="3143250" y="50196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History, guidance and alerts</a:t>
            </a:r>
          </a:p>
        </p:txBody>
      </p:sp>
      <p:sp>
        <p:nvSpPr>
          <p:cNvPr id="12" name="">
            <a:extLst xmlns:a="http://schemas.openxmlformats.org/drawingml/2006/main">
              <a:ext uri="{FF2B5EF4-FFF2-40B4-BE49-F238E27FC236}">
                <a16:creationId xmlns:a16="http://schemas.microsoft.com/office/drawing/2014/main" id="{53F56DF7-B41E-4A6C-B7D8-CC0D206EF4EF}"/>
              </a:ext>
            </a:extLst>
          </p:cNvPr>
          <p:cNvSpPr>
            <a:spLocks xmlns:a="http://schemas.openxmlformats.org/drawingml/2006/main" noGrp="1"/>
          </p:cNvSpPr>
          <p:nvPr/>
        </p:nvSpPr>
        <p:spPr>
          <a:xfrm xmlns:a="http://schemas.openxmlformats.org/drawingml/2006/main">
            <a:off x="800100" y="3333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2E7D5B"/>
                </a:solidFill>
                <a:latin typeface="DejaVu Serif"/>
                <a:ea typeface="DejaVu Serif"/>
                <a:cs typeface="DejaVu Serif"/>
              </a:defRPr>
            </a:pPr>
            <a:r>
              <a:rPr sz="1275" b="1">
                <a:solidFill>
                  <a:srgbClr val="2E7D5B"/>
                </a:solidFill>
                <a:latin typeface="DejaVu Serif"/>
                <a:ea typeface="DejaVu Serif"/>
                <a:cs typeface="DejaVu Serif"/>
              </a:rPr>
              <a:t/>
            </a:r>
          </a:p>
        </p:txBody>
      </p:sp>
      <p:sp>
        <p:nvSpPr>
          <p:cNvPr id="13" name="">
            <a:extLst xmlns:a="http://schemas.openxmlformats.org/drawingml/2006/main">
              <a:ext uri="{FF2B5EF4-FFF2-40B4-BE49-F238E27FC236}">
                <a16:creationId xmlns:a16="http://schemas.microsoft.com/office/drawing/2014/main" id="{CF5FEE70-C08B-444A-BCE1-2EB0B9BC8EE9}"/>
              </a:ext>
            </a:extLst>
          </p:cNvPr>
          <p:cNvSpPr>
            <a:spLocks xmlns:a="http://schemas.openxmlformats.org/drawingml/2006/main" noGrp="1"/>
          </p:cNvSpPr>
          <p:nvPr/>
        </p:nvSpPr>
        <p:spPr>
          <a:xfrm xmlns:a="http://schemas.openxmlformats.org/drawingml/2006/main">
            <a:off x="1323975" y="3333750"/>
            <a:ext cx="4286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14" name="">
            <a:extLst xmlns:a="http://schemas.openxmlformats.org/drawingml/2006/main">
              <a:ext uri="{FF2B5EF4-FFF2-40B4-BE49-F238E27FC236}">
                <a16:creationId xmlns:a16="http://schemas.microsoft.com/office/drawing/2014/main" id="{E4C15F42-63D5-4D90-AC59-D4D1237A92ED}"/>
              </a:ext>
            </a:extLst>
          </p:cNvPr>
          <p:cNvSpPr>
            <a:spLocks xmlns:a="http://schemas.openxmlformats.org/drawingml/2006/main" noGrp="1"/>
          </p:cNvSpPr>
          <p:nvPr/>
        </p:nvSpPr>
        <p:spPr>
          <a:xfrm xmlns:a="http://schemas.openxmlformats.org/drawingml/2006/main">
            <a:off x="3143250" y="2085975"/>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Enter asset details manually or use structured suggestions from a photograph.</a:t>
            </a:r>
          </a:p>
        </p:txBody>
      </p:sp>
      <p:sp>
        <p:nvSpPr>
          <p:cNvPr id="15" name="">
            <a:extLst xmlns:a="http://schemas.openxmlformats.org/drawingml/2006/main">
              <a:ext uri="{FF2B5EF4-FFF2-40B4-BE49-F238E27FC236}">
                <a16:creationId xmlns:a16="http://schemas.microsoft.com/office/drawing/2014/main" id="{97897294-EA67-4DB8-9AEF-2EB1B4208ADB}"/>
              </a:ext>
            </a:extLst>
          </p:cNvPr>
          <p:cNvSpPr>
            <a:spLocks xmlns:a="http://schemas.openxmlformats.org/drawingml/2006/main" noGrp="1"/>
          </p:cNvSpPr>
          <p:nvPr/>
        </p:nvSpPr>
        <p:spPr>
          <a:xfrm xmlns:a="http://schemas.openxmlformats.org/drawingml/2006/main">
            <a:off x="800100" y="452437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146C94"/>
                </a:solidFill>
                <a:latin typeface="DejaVu Serif"/>
                <a:ea typeface="DejaVu Serif"/>
                <a:cs typeface="DejaVu Serif"/>
              </a:defRPr>
            </a:pPr>
            <a:r>
              <a:rPr sz="1275" b="1">
                <a:solidFill>
                  <a:srgbClr val="146C94"/>
                </a:solidFill>
                <a:latin typeface="DejaVu Serif"/>
                <a:ea typeface="DejaVu Serif"/>
                <a:cs typeface="DejaVu Serif"/>
              </a:rPr>
              <a:t/>
            </a:r>
          </a:p>
        </p:txBody>
      </p:sp>
      <p:sp>
        <p:nvSpPr>
          <p:cNvPr id="16" name="">
            <a:extLst xmlns:a="http://schemas.openxmlformats.org/drawingml/2006/main">
              <a:ext uri="{FF2B5EF4-FFF2-40B4-BE49-F238E27FC236}">
                <a16:creationId xmlns:a16="http://schemas.microsoft.com/office/drawing/2014/main" id="{9651EFC7-B379-4EE6-A4FF-5EC92A14BF8D}"/>
              </a:ext>
            </a:extLst>
          </p:cNvPr>
          <p:cNvSpPr>
            <a:spLocks xmlns:a="http://schemas.openxmlformats.org/drawingml/2006/main" noGrp="1"/>
          </p:cNvSpPr>
          <p:nvPr/>
        </p:nvSpPr>
        <p:spPr>
          <a:xfrm xmlns:a="http://schemas.openxmlformats.org/drawingml/2006/main">
            <a:off x="1323975" y="4524375"/>
            <a:ext cx="4286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17" name="">
            <a:extLst xmlns:a="http://schemas.openxmlformats.org/drawingml/2006/main">
              <a:ext uri="{FF2B5EF4-FFF2-40B4-BE49-F238E27FC236}">
                <a16:creationId xmlns:a16="http://schemas.microsoft.com/office/drawing/2014/main" id="{C656C5FE-6598-4848-9BDE-1FA2A9BB670D}"/>
              </a:ext>
            </a:extLst>
          </p:cNvPr>
          <p:cNvSpPr>
            <a:spLocks xmlns:a="http://schemas.openxmlformats.org/drawingml/2006/main" noGrp="1"/>
          </p:cNvSpPr>
          <p:nvPr/>
        </p:nvSpPr>
        <p:spPr>
          <a:xfrm xmlns:a="http://schemas.openxmlformats.org/drawingml/2006/main">
            <a:off x="3143250" y="3181350"/>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Correct or reject AI-generated information. Use manual entry when identification fails.</a:t>
            </a:r>
          </a:p>
        </p:txBody>
      </p:sp>
      <p:sp>
        <p:nvSpPr>
          <p:cNvPr id="18" name="">
            <a:extLst xmlns:a="http://schemas.openxmlformats.org/drawingml/2006/main">
              <a:ext uri="{FF2B5EF4-FFF2-40B4-BE49-F238E27FC236}">
                <a16:creationId xmlns:a16="http://schemas.microsoft.com/office/drawing/2014/main" id="{3763A7B7-C21E-44B7-98DD-F228B631E4FF}"/>
              </a:ext>
            </a:extLst>
          </p:cNvPr>
          <p:cNvSpPr>
            <a:spLocks xmlns:a="http://schemas.openxmlformats.org/drawingml/2006/main" noGrp="1"/>
          </p:cNvSpPr>
          <p:nvPr/>
        </p:nvSpPr>
        <p:spPr>
          <a:xfrm xmlns:a="http://schemas.openxmlformats.org/drawingml/2006/main">
            <a:off x="6381750" y="3333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287F76"/>
                </a:solidFill>
                <a:latin typeface="DejaVu Serif"/>
                <a:ea typeface="DejaVu Serif"/>
                <a:cs typeface="DejaVu Serif"/>
              </a:defRPr>
            </a:pPr>
            <a:r>
              <a:rPr sz="1275" b="1">
                <a:solidFill>
                  <a:srgbClr val="287F76"/>
                </a:solidFill>
                <a:latin typeface="DejaVu Serif"/>
                <a:ea typeface="DejaVu Serif"/>
                <a:cs typeface="DejaVu Serif"/>
              </a:rPr>
              <a:t/>
            </a:r>
          </a:p>
        </p:txBody>
      </p:sp>
      <p:sp>
        <p:nvSpPr>
          <p:cNvPr id="19" name="">
            <a:extLst xmlns:a="http://schemas.openxmlformats.org/drawingml/2006/main">
              <a:ext uri="{FF2B5EF4-FFF2-40B4-BE49-F238E27FC236}">
                <a16:creationId xmlns:a16="http://schemas.microsoft.com/office/drawing/2014/main" id="{8BCAF582-8EF3-4936-A0AE-B0A5C7937593}"/>
              </a:ext>
            </a:extLst>
          </p:cNvPr>
          <p:cNvSpPr>
            <a:spLocks xmlns:a="http://schemas.openxmlformats.org/drawingml/2006/main" noGrp="1"/>
          </p:cNvSpPr>
          <p:nvPr/>
        </p:nvSpPr>
        <p:spPr>
          <a:xfrm xmlns:a="http://schemas.openxmlformats.org/drawingml/2006/main">
            <a:off x="6905625" y="3333750"/>
            <a:ext cx="4333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20" name="">
            <a:extLst xmlns:a="http://schemas.openxmlformats.org/drawingml/2006/main">
              <a:ext uri="{FF2B5EF4-FFF2-40B4-BE49-F238E27FC236}">
                <a16:creationId xmlns:a16="http://schemas.microsoft.com/office/drawing/2014/main" id="{E0A7F7B1-A6BF-4643-B8DA-D57261ABCA8F}"/>
              </a:ext>
            </a:extLst>
          </p:cNvPr>
          <p:cNvSpPr>
            <a:spLocks xmlns:a="http://schemas.openxmlformats.org/drawingml/2006/main" noGrp="1"/>
          </p:cNvSpPr>
          <p:nvPr/>
        </p:nvSpPr>
        <p:spPr>
          <a:xfrm xmlns:a="http://schemas.openxmlformats.org/drawingml/2006/main">
            <a:off x="3143250" y="4276725"/>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DynamoDB stores asset records. Application code calculates straight-line depreciation.</a:t>
            </a:r>
          </a:p>
        </p:txBody>
      </p:sp>
      <p:sp>
        <p:nvSpPr>
          <p:cNvPr id="21" name="">
            <a:extLst xmlns:a="http://schemas.openxmlformats.org/drawingml/2006/main">
              <a:ext uri="{FF2B5EF4-FFF2-40B4-BE49-F238E27FC236}">
                <a16:creationId xmlns:a16="http://schemas.microsoft.com/office/drawing/2014/main" id="{9F1915DA-56FE-45C6-902C-4257CECC6347}"/>
              </a:ext>
            </a:extLst>
          </p:cNvPr>
          <p:cNvSpPr>
            <a:spLocks xmlns:a="http://schemas.openxmlformats.org/drawingml/2006/main" noGrp="1"/>
          </p:cNvSpPr>
          <p:nvPr/>
        </p:nvSpPr>
        <p:spPr>
          <a:xfrm xmlns:a="http://schemas.openxmlformats.org/drawingml/2006/main">
            <a:off x="6381750" y="452437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A66717"/>
                </a:solidFill>
                <a:latin typeface="DejaVu Serif"/>
                <a:ea typeface="DejaVu Serif"/>
                <a:cs typeface="DejaVu Serif"/>
              </a:defRPr>
            </a:pPr>
            <a:r>
              <a:rPr sz="1275" b="1">
                <a:solidFill>
                  <a:srgbClr val="A66717"/>
                </a:solidFill>
                <a:latin typeface="DejaVu Serif"/>
                <a:ea typeface="DejaVu Serif"/>
                <a:cs typeface="DejaVu Serif"/>
              </a:rPr>
              <a:t/>
            </a:r>
          </a:p>
        </p:txBody>
      </p:sp>
      <p:sp>
        <p:nvSpPr>
          <p:cNvPr id="22" name="">
            <a:extLst xmlns:a="http://schemas.openxmlformats.org/drawingml/2006/main">
              <a:ext uri="{FF2B5EF4-FFF2-40B4-BE49-F238E27FC236}">
                <a16:creationId xmlns:a16="http://schemas.microsoft.com/office/drawing/2014/main" id="{046B8F7B-D798-44B9-A834-C3457123517A}"/>
              </a:ext>
            </a:extLst>
          </p:cNvPr>
          <p:cNvSpPr>
            <a:spLocks xmlns:a="http://schemas.openxmlformats.org/drawingml/2006/main" noGrp="1"/>
          </p:cNvSpPr>
          <p:nvPr/>
        </p:nvSpPr>
        <p:spPr>
          <a:xfrm xmlns:a="http://schemas.openxmlformats.org/drawingml/2006/main">
            <a:off x="6905625" y="4524375"/>
            <a:ext cx="4333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23" name="">
            <a:extLst xmlns:a="http://schemas.openxmlformats.org/drawingml/2006/main">
              <a:ext uri="{FF2B5EF4-FFF2-40B4-BE49-F238E27FC236}">
                <a16:creationId xmlns:a16="http://schemas.microsoft.com/office/drawing/2014/main" id="{5E215ED2-3507-4287-B921-2B5493FD589E}"/>
              </a:ext>
            </a:extLst>
          </p:cNvPr>
          <p:cNvSpPr>
            <a:spLocks xmlns:a="http://schemas.openxmlformats.org/drawingml/2006/main" noGrp="1"/>
          </p:cNvSpPr>
          <p:nvPr/>
        </p:nvSpPr>
        <p:spPr>
          <a:xfrm xmlns:a="http://schemas.openxmlformats.org/drawingml/2006/main">
            <a:off x="3143250" y="5372100"/>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Record work and review AI advice. EventBridge schedules checks, SNS sends notifications and CloudWatch logs activity.</a:t>
            </a:r>
          </a:p>
        </p:txBody>
      </p:sp>
      <p:sp>
        <p:nvSpPr>
          <p:cNvPr id="24" name="">
            <a:extLst xmlns:a="http://schemas.openxmlformats.org/drawingml/2006/main">
              <a:ext uri="{FF2B5EF4-FFF2-40B4-BE49-F238E27FC236}">
                <a16:creationId xmlns:a16="http://schemas.microsoft.com/office/drawing/2014/main" id="{589C6615-BE55-4876-AF7D-5A64750B41CE}"/>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AWS Smart Asset Lifecycle Tracker  |  Week 4</a:t>
            </a:r>
          </a:p>
        </p:txBody>
      </p:sp>
      <p:sp>
        <p:nvSpPr>
          <p:cNvPr id="25" name="">
            <a:extLst xmlns:a="http://schemas.openxmlformats.org/drawingml/2006/main">
              <a:ext uri="{FF2B5EF4-FFF2-40B4-BE49-F238E27FC236}">
                <a16:creationId xmlns:a16="http://schemas.microsoft.com/office/drawing/2014/main" id="{284C6E9B-4738-47F5-8C9C-71E3AE1832C9}"/>
              </a:ext>
            </a:extLst>
          </p:cNvPr>
          <p:cNvSpPr>
            <a:spLocks xmlns:a="http://schemas.openxmlformats.org/drawingml/2006/main" noGrp="1"/>
          </p:cNvSpPr>
          <p:nvPr/>
        </p:nvSpPr>
        <p:spPr>
          <a:xfrm xmlns:a="http://schemas.openxmlformats.org/drawingml/2006/main">
            <a:off x="108394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03</a:t>
            </a:r>
          </a:p>
        </p:txBody>
      </p:sp>
    </p:spTree>
    <p:extLst>
      <p:ext uri="{BB962C8B-B14F-4D97-AF65-F5344CB8AC3E}">
        <p14:creationId xmlns:p14="http://schemas.microsoft.com/office/powerpoint/2010/main" val="14077954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4" name="">
            <a:extLst xmlns:a="http://schemas.openxmlformats.org/drawingml/2006/main">
              <a:ext uri="{FF2B5EF4-FFF2-40B4-BE49-F238E27FC236}">
                <a16:creationId xmlns:a16="http://schemas.microsoft.com/office/drawing/2014/main" id="{7179BE4C-AEEA-4181-B5D7-A8D5BCAC1D92}"/>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550" b="1">
                <a:solidFill>
                  <a:srgbClr val="102A43"/>
                </a:solidFill>
                <a:latin typeface="DejaVu Serif"/>
                <a:ea typeface="DejaVu Serif"/>
                <a:cs typeface="DejaVu Serif"/>
              </a:defRPr>
            </a:pPr>
            <a:r>
              <a:rPr sz="2550" b="1">
                <a:solidFill>
                  <a:srgbClr val="102A43"/>
                </a:solidFill>
                <a:latin typeface="DejaVu Serif"/>
                <a:ea typeface="DejaVu Serif"/>
                <a:cs typeface="DejaVu Serif"/>
              </a:rPr>
              <a:t>AWS solution architecture</a:t>
            </a:r>
          </a:p>
        </p:txBody>
      </p:sp>
      <p:sp>
        <p:nvSpPr>
          <p:cNvPr id="2" name="">
            <a:extLst xmlns:a="http://schemas.openxmlformats.org/drawingml/2006/main">
              <a:ext uri="{FF2B5EF4-FFF2-40B4-BE49-F238E27FC236}">
                <a16:creationId xmlns:a16="http://schemas.microsoft.com/office/drawing/2014/main" id="{1D5FA51D-AF5D-4416-B1B2-4438E501593F}"/>
              </a:ext>
            </a:extLst>
          </p:cNvPr>
          <p:cNvSpPr>
            <a:spLocks xmlns:a="http://schemas.openxmlformats.org/drawingml/2006/main" noGrp="1"/>
          </p:cNvSpPr>
          <p:nvPr/>
        </p:nvSpPr>
        <p:spPr>
          <a:xfrm xmlns:a="http://schemas.openxmlformats.org/drawingml/2006/main">
            <a:off x="704850" y="9525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Secure asset lifecycle management with depreciation, maintenance intelligence and scheduled alerts</a:t>
            </a:r>
          </a:p>
        </p:txBody>
      </p:sp>
      <p:sp>
        <p:nvSpPr>
          <p:cNvPr id="3" name="">
            <a:extLst xmlns:a="http://schemas.openxmlformats.org/drawingml/2006/main">
              <a:ext uri="{FF2B5EF4-FFF2-40B4-BE49-F238E27FC236}">
                <a16:creationId xmlns:a16="http://schemas.microsoft.com/office/drawing/2014/main" id="{BED205B2-0C83-4825-AA53-6C951325C209}"/>
              </a:ext>
            </a:extLst>
          </p:cNvPr>
          <p:cNvSpPr>
            <a:spLocks xmlns:a="http://schemas.openxmlformats.org/drawingml/2006/main" noGrp="1"/>
          </p:cNvSpPr>
          <p:nvPr/>
        </p:nvSpPr>
        <p:spPr>
          <a:xfrm xmlns:a="http://schemas.openxmlformats.org/drawingml/2006/main">
            <a:off x="685800" y="1314450"/>
            <a:ext cx="10820400" cy="28575"/>
          </a:xfrm>
          <a:prstGeom xmlns:a="http://schemas.openxmlformats.org/drawingml/2006/main" prst="rect">
            <a:avLst/>
          </a:prstGeom>
          <a:solidFill xmlns:a="http://schemas.openxmlformats.org/drawingml/2006/main">
            <a:srgbClr val="146C9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929CF83-C914-4CF1-8F13-344D30BFD834}"/>
              </a:ext>
            </a:extLst>
          </p:cNvPr>
          <p:cNvSpPr>
            <a:spLocks xmlns:a="http://schemas.openxmlformats.org/drawingml/2006/main" noGrp="1"/>
          </p:cNvSpPr>
          <p:nvPr/>
        </p:nvSpPr>
        <p:spPr>
          <a:xfrm xmlns:a="http://schemas.openxmlformats.org/drawingml/2006/main">
            <a:off x="247650" y="2209800"/>
            <a:ext cx="685800" cy="685800"/>
          </a:xfrm>
          <a:prstGeom xmlns:a="http://schemas.openxmlformats.org/drawingml/2006/main" prst="ellipse">
            <a:avLst/>
          </a:prstGeom>
          <a:solidFill xmlns:a="http://schemas.openxmlformats.org/drawingml/2006/main">
            <a:srgbClr val="F5F8FB"/>
          </a:solidFill>
          <a:ln xmlns:a="http://schemas.openxmlformats.org/drawingml/2006/main" w="19050">
            <a:solidFill>
              <a:srgbClr val="102A43"/>
            </a:solidFill>
            <a:prstDash val="solid"/>
          </a:ln>
        </p:spPr>
      </p:sp>
      <p:sp>
        <p:nvSpPr>
          <p:cNvPr id="5" name="">
            <a:extLst xmlns:a="http://schemas.openxmlformats.org/drawingml/2006/main">
              <a:ext uri="{FF2B5EF4-FFF2-40B4-BE49-F238E27FC236}">
                <a16:creationId xmlns:a16="http://schemas.microsoft.com/office/drawing/2014/main" id="{F1567548-839A-4394-800F-BFDCE3F04868}"/>
              </a:ext>
            </a:extLst>
          </p:cNvPr>
          <p:cNvSpPr>
            <a:spLocks xmlns:a="http://schemas.openxmlformats.org/drawingml/2006/main" noGrp="1"/>
          </p:cNvSpPr>
          <p:nvPr/>
        </p:nvSpPr>
        <p:spPr>
          <a:xfrm xmlns:a="http://schemas.openxmlformats.org/drawingml/2006/main">
            <a:off x="247650" y="2343150"/>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900" b="1">
                <a:solidFill>
                  <a:srgbClr val="102A43"/>
                </a:solidFill>
                <a:latin typeface="DejaVu Sans"/>
                <a:ea typeface="DejaVu Sans"/>
                <a:cs typeface="DejaVu Sans"/>
              </a:defRPr>
            </a:pPr>
            <a:r>
              <a:rPr sz="900" b="1">
                <a:solidFill>
                  <a:srgbClr val="102A43"/>
                </a:solidFill>
                <a:latin typeface="DejaVu Sans"/>
                <a:ea typeface="DejaVu Sans"/>
                <a:cs typeface="DejaVu Sans"/>
              </a:rPr>
              <a:t>User</a:t>
            </a:r>
          </a:p>
        </p:txBody>
      </p:sp>
      <p:sp>
        <p:nvSpPr>
          <p:cNvPr id="6" name="">
            <a:extLst xmlns:a="http://schemas.openxmlformats.org/drawingml/2006/main">
              <a:ext uri="{FF2B5EF4-FFF2-40B4-BE49-F238E27FC236}">
                <a16:creationId xmlns:a16="http://schemas.microsoft.com/office/drawing/2014/main" id="{925740E5-CD22-4184-A423-6D27BC4CED18}"/>
              </a:ext>
            </a:extLst>
          </p:cNvPr>
          <p:cNvSpPr>
            <a:spLocks xmlns:a="http://schemas.openxmlformats.org/drawingml/2006/main" noGrp="1"/>
          </p:cNvSpPr>
          <p:nvPr/>
        </p:nvSpPr>
        <p:spPr>
          <a:xfrm xmlns:a="http://schemas.openxmlformats.org/drawingml/2006/main">
            <a:off x="209550" y="29337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Browser</a:t>
            </a:r>
          </a:p>
        </p:txBody>
      </p:sp>
      <p:sp>
        <p:nvSpPr>
          <p:cNvPr id="7" name="">
            <a:extLst xmlns:a="http://schemas.openxmlformats.org/drawingml/2006/main">
              <a:ext uri="{FF2B5EF4-FFF2-40B4-BE49-F238E27FC236}">
                <a16:creationId xmlns:a16="http://schemas.microsoft.com/office/drawing/2014/main" id="{EB0AE009-0016-484D-856A-395C98A0F28A}"/>
              </a:ext>
            </a:extLst>
          </p:cNvPr>
          <p:cNvSpPr>
            <a:spLocks xmlns:a="http://schemas.openxmlformats.org/drawingml/2006/main" noGrp="1"/>
          </p:cNvSpPr>
          <p:nvPr/>
        </p:nvSpPr>
        <p:spPr>
          <a:xfrm xmlns:a="http://schemas.openxmlformats.org/drawingml/2006/main">
            <a:off x="1143000" y="1485900"/>
            <a:ext cx="9858375" cy="4800600"/>
          </a:xfrm>
          <a:prstGeom xmlns:a="http://schemas.openxmlformats.org/drawingml/2006/main" prst="roundRect">
            <a:avLst>
              <a:gd name="adj" fmla="val 2381"/>
            </a:avLst>
          </a:prstGeom>
          <a:solidFill xmlns:a="http://schemas.openxmlformats.org/drawingml/2006/main">
            <a:srgbClr val="FBFCFE"/>
          </a:solidFill>
          <a:ln xmlns:a="http://schemas.openxmlformats.org/drawingml/2006/main" w="19050">
            <a:solidFill>
              <a:srgbClr val="8FA6B9"/>
            </a:solidFill>
            <a:prstDash val="solid"/>
          </a:ln>
        </p:spPr>
      </p:sp>
      <p:sp>
        <p:nvSpPr>
          <p:cNvPr id="8" name="">
            <a:extLst xmlns:a="http://schemas.openxmlformats.org/drawingml/2006/main">
              <a:ext uri="{FF2B5EF4-FFF2-40B4-BE49-F238E27FC236}">
                <a16:creationId xmlns:a16="http://schemas.microsoft.com/office/drawing/2014/main" id="{5E563159-3495-41E6-B842-A9ECC8B90842}"/>
              </a:ext>
            </a:extLst>
          </p:cNvPr>
          <p:cNvSpPr>
            <a:spLocks xmlns:a="http://schemas.openxmlformats.org/drawingml/2006/main" noGrp="1"/>
          </p:cNvSpPr>
          <p:nvPr/>
        </p:nvSpPr>
        <p:spPr>
          <a:xfrm xmlns:a="http://schemas.openxmlformats.org/drawingml/2006/main">
            <a:off x="1371600" y="1609725"/>
            <a:ext cx="238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091" b="1">
                <a:solidFill>
                  <a:srgbClr val="102A43"/>
                </a:solidFill>
                <a:latin typeface="DejaVu Sans"/>
                <a:ea typeface="DejaVu Sans"/>
                <a:cs typeface="DejaVu Sans"/>
              </a:defRPr>
            </a:pPr>
            <a:r>
              <a:rPr sz="1091" b="1">
                <a:solidFill>
                  <a:srgbClr val="102A43"/>
                </a:solidFill>
                <a:latin typeface="DejaVu Sans"/>
                <a:ea typeface="DejaVu Sans"/>
                <a:cs typeface="DejaVu Sans"/>
              </a:rPr>
              <a:t>AWS Cloud   us-east-1</a:t>
            </a:r>
          </a:p>
        </p:txBody>
      </p:sp>
      <p:sp>
        <p:nvSpPr>
          <p:cNvPr id="9" name="">
            <a:extLst xmlns:a="http://schemas.openxmlformats.org/drawingml/2006/main">
              <a:ext uri="{FF2B5EF4-FFF2-40B4-BE49-F238E27FC236}">
                <a16:creationId xmlns:a16="http://schemas.microsoft.com/office/drawing/2014/main" id="{968AB355-B92D-44F9-9B03-DF3D4C8134D5}"/>
              </a:ext>
            </a:extLst>
          </p:cNvPr>
          <p:cNvSpPr>
            <a:spLocks xmlns:a="http://schemas.openxmlformats.org/drawingml/2006/main" noGrp="1"/>
          </p:cNvSpPr>
          <p:nvPr/>
        </p:nvSpPr>
        <p:spPr>
          <a:xfrm xmlns:a="http://schemas.openxmlformats.org/drawingml/2006/main">
            <a:off x="1371600" y="1943100"/>
            <a:ext cx="9382125" cy="9525"/>
          </a:xfrm>
          <a:prstGeom xmlns:a="http://schemas.openxmlformats.org/drawingml/2006/main" prst="rect">
            <a:avLst/>
          </a:prstGeom>
          <a:solidFill xmlns:a="http://schemas.openxmlformats.org/drawingml/2006/main">
            <a:srgbClr val="CBD9E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D3CF103-BB74-47C4-921C-ADB21CCA82B9}"/>
              </a:ext>
            </a:extLst>
          </p:cNvPr>
          <p:cNvSpPr>
            <a:spLocks xmlns:a="http://schemas.openxmlformats.org/drawingml/2006/main" noGrp="1"/>
          </p:cNvSpPr>
          <p:nvPr/>
        </p:nvSpPr>
        <p:spPr>
          <a:xfrm xmlns:a="http://schemas.openxmlformats.org/drawingml/2006/main">
            <a:off x="1371600" y="20574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652" b="1">
                <a:solidFill>
                  <a:srgbClr val="287F76"/>
                </a:solidFill>
                <a:latin typeface="DejaVu Sans"/>
                <a:ea typeface="DejaVu Sans"/>
                <a:cs typeface="DejaVu Sans"/>
              </a:defRPr>
            </a:pPr>
            <a:r>
              <a:rPr sz="652" b="1">
                <a:solidFill>
                  <a:srgbClr val="287F76"/>
                </a:solidFill>
                <a:latin typeface="DejaVu Sans"/>
                <a:ea typeface="DejaVu Sans"/>
                <a:cs typeface="DejaVu Sans"/>
              </a:rPr>
              <a:t>APPLICATION REQUEST</a:t>
            </a:r>
          </a:p>
        </p:txBody>
      </p:sp>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f9f4e3543bc24dc7"/>
          <a:stretch xmlns:a="http://schemas.openxmlformats.org/drawingml/2006/main"/>
        </p:blipFill>
        <p:spPr>
          <a:xfrm xmlns:a="http://schemas.openxmlformats.org/drawingml/2006/main">
            <a:off x="1666875" y="2314575"/>
            <a:ext cx="590550" cy="5905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B75E00F-2CAF-4D7D-B1AB-DB889E67C07A}"/>
              </a:ext>
            </a:extLst>
          </p:cNvPr>
          <p:cNvSpPr>
            <a:spLocks xmlns:a="http://schemas.openxmlformats.org/drawingml/2006/main" noGrp="1"/>
          </p:cNvSpPr>
          <p:nvPr/>
        </p:nvSpPr>
        <p:spPr>
          <a:xfrm xmlns:a="http://schemas.openxmlformats.org/drawingml/2006/main">
            <a:off x="1409700" y="2943225"/>
            <a:ext cx="110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008" b="1">
                <a:solidFill>
                  <a:srgbClr val="102A43"/>
                </a:solidFill>
                <a:latin typeface="DejaVu Sans"/>
                <a:ea typeface="DejaVu Sans"/>
                <a:cs typeface="DejaVu Sans"/>
              </a:defRPr>
            </a:pPr>
            <a:r>
              <a:rPr sz="1008" b="1">
                <a:solidFill>
                  <a:srgbClr val="102A43"/>
                </a:solidFill>
                <a:latin typeface="DejaVu Sans"/>
                <a:ea typeface="DejaVu Sans"/>
                <a:cs typeface="DejaVu Sans"/>
              </a:rPr>
              <a:t>AWS Amplify</a:t>
            </a:r>
          </a:p>
        </p:txBody>
      </p:sp>
      <p:sp>
        <p:nvSpPr>
          <p:cNvPr id="13" name="">
            <a:extLst xmlns:a="http://schemas.openxmlformats.org/drawingml/2006/main">
              <a:ext uri="{FF2B5EF4-FFF2-40B4-BE49-F238E27FC236}">
                <a16:creationId xmlns:a16="http://schemas.microsoft.com/office/drawing/2014/main" id="{AA82CAFC-5E26-4D00-AEF1-7F20F955B6A9}"/>
              </a:ext>
            </a:extLst>
          </p:cNvPr>
          <p:cNvSpPr>
            <a:spLocks xmlns:a="http://schemas.openxmlformats.org/drawingml/2006/main" noGrp="1"/>
          </p:cNvSpPr>
          <p:nvPr/>
        </p:nvSpPr>
        <p:spPr>
          <a:xfrm xmlns:a="http://schemas.openxmlformats.org/drawingml/2006/main">
            <a:off x="1371600" y="3190875"/>
            <a:ext cx="1181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586E82"/>
                </a:solidFill>
                <a:latin typeface="DejaVu Sans"/>
                <a:ea typeface="DejaVu Sans"/>
                <a:cs typeface="DejaVu Sans"/>
              </a:defRPr>
            </a:pPr>
            <a:r>
              <a:rPr sz="750" b="0">
                <a:solidFill>
                  <a:srgbClr val="586E82"/>
                </a:solidFill>
                <a:latin typeface="DejaVu Sans"/>
                <a:ea typeface="DejaVu Sans"/>
                <a:cs typeface="DejaVu Sans"/>
              </a:rPr>
              <a:t>React frontend</a:t>
            </a:r>
          </a:p>
        </p:txBody>
      </p:sp>
      <p:sp>
        <p:nvSpPr>
          <p:cNvPr id="14" name="">
            <a:extLst xmlns:a="http://schemas.openxmlformats.org/drawingml/2006/main">
              <a:ext uri="{FF2B5EF4-FFF2-40B4-BE49-F238E27FC236}">
                <a16:creationId xmlns:a16="http://schemas.microsoft.com/office/drawing/2014/main" id="{3CC7627A-DA50-4EAA-8F0C-F06CAC77EF08}"/>
              </a:ext>
            </a:extLst>
          </p:cNvPr>
          <p:cNvSpPr>
            <a:spLocks xmlns:a="http://schemas.openxmlformats.org/drawingml/2006/main" noGrp="1"/>
          </p:cNvSpPr>
          <p:nvPr/>
        </p:nvSpPr>
        <p:spPr>
          <a:xfrm xmlns:a="http://schemas.openxmlformats.org/drawingml/2006/main">
            <a:off x="2533650" y="2552700"/>
            <a:ext cx="457200" cy="133350"/>
          </a:xfrm>
          <a:prstGeom xmlns:a="http://schemas.openxmlformats.org/drawingml/2006/main" prst="rightArrow">
            <a:avLst/>
          </a:prstGeom>
          <a:solidFill xmlns:a="http://schemas.openxmlformats.org/drawingml/2006/main">
            <a:srgbClr val="647F95"/>
          </a:solidFill>
          <a:ln xmlns:a="http://schemas.openxmlformats.org/drawingml/2006/main" w="0">
            <a:solidFill>
              <a:srgbClr val="647F95"/>
            </a:solidFill>
            <a:prstDash val="solid"/>
          </a:ln>
        </p:spPr>
      </p:sp>
      <p:sp>
        <p:nvSpPr>
          <p:cNvPr id="15" name="">
            <a:extLst xmlns:a="http://schemas.openxmlformats.org/drawingml/2006/main">
              <a:ext uri="{FF2B5EF4-FFF2-40B4-BE49-F238E27FC236}">
                <a16:creationId xmlns:a16="http://schemas.microsoft.com/office/drawing/2014/main" id="{EE4E3445-F768-47EE-8622-FFB69BB941D6}"/>
              </a:ext>
            </a:extLst>
          </p:cNvPr>
          <p:cNvSpPr>
            <a:spLocks xmlns:a="http://schemas.openxmlformats.org/drawingml/2006/main" noGrp="1"/>
          </p:cNvSpPr>
          <p:nvPr/>
        </p:nvSpPr>
        <p:spPr>
          <a:xfrm xmlns:a="http://schemas.openxmlformats.org/drawingml/2006/main">
            <a:off x="2495550" y="23431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27" b="0">
                <a:solidFill>
                  <a:srgbClr val="586E82"/>
                </a:solidFill>
                <a:latin typeface="DejaVu Sans"/>
                <a:ea typeface="DejaVu Sans"/>
                <a:cs typeface="DejaVu Sans"/>
              </a:defRPr>
            </a:pPr>
            <a:r>
              <a:rPr sz="527" b="0">
                <a:solidFill>
                  <a:srgbClr val="586E82"/>
                </a:solidFill>
                <a:latin typeface="DejaVu Sans"/>
                <a:ea typeface="DejaVu Sans"/>
                <a:cs typeface="DejaVu Sans"/>
              </a:rPr>
              <a:t>HTTPS</a:t>
            </a:r>
          </a:p>
        </p:txBody>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50f8bfb836cc4e01"/>
          <a:stretch xmlns:a="http://schemas.openxmlformats.org/drawingml/2006/main"/>
        </p:blipFill>
        <p:spPr>
          <a:xfrm xmlns:a="http://schemas.openxmlformats.org/drawingml/2006/main">
            <a:off x="3314700" y="2314575"/>
            <a:ext cx="590550" cy="5905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5801CD82-3261-4512-A9AD-7891EADB0544}"/>
              </a:ext>
            </a:extLst>
          </p:cNvPr>
          <p:cNvSpPr>
            <a:spLocks xmlns:a="http://schemas.openxmlformats.org/drawingml/2006/main" noGrp="1"/>
          </p:cNvSpPr>
          <p:nvPr/>
        </p:nvSpPr>
        <p:spPr>
          <a:xfrm xmlns:a="http://schemas.openxmlformats.org/drawingml/2006/main">
            <a:off x="3009900" y="2943225"/>
            <a:ext cx="120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872" b="1">
                <a:solidFill>
                  <a:srgbClr val="102A43"/>
                </a:solidFill>
                <a:latin typeface="DejaVu Sans"/>
                <a:ea typeface="DejaVu Sans"/>
                <a:cs typeface="DejaVu Sans"/>
              </a:defRPr>
            </a:pPr>
            <a:r>
              <a:rPr sz="872" b="1">
                <a:solidFill>
                  <a:srgbClr val="102A43"/>
                </a:solidFill>
                <a:latin typeface="DejaVu Sans"/>
                <a:ea typeface="DejaVu Sans"/>
                <a:cs typeface="DejaVu Sans"/>
              </a:rPr>
              <a:t>Amazon Cognito</a:t>
            </a:r>
          </a:p>
        </p:txBody>
      </p:sp>
      <p:sp>
        <p:nvSpPr>
          <p:cNvPr id="18" name="">
            <a:extLst xmlns:a="http://schemas.openxmlformats.org/drawingml/2006/main">
              <a:ext uri="{FF2B5EF4-FFF2-40B4-BE49-F238E27FC236}">
                <a16:creationId xmlns:a16="http://schemas.microsoft.com/office/drawing/2014/main" id="{DE56188B-15C3-4DB3-8C5F-28A81FF0FE39}"/>
              </a:ext>
            </a:extLst>
          </p:cNvPr>
          <p:cNvSpPr>
            <a:spLocks xmlns:a="http://schemas.openxmlformats.org/drawingml/2006/main" noGrp="1"/>
          </p:cNvSpPr>
          <p:nvPr/>
        </p:nvSpPr>
        <p:spPr>
          <a:xfrm xmlns:a="http://schemas.openxmlformats.org/drawingml/2006/main">
            <a:off x="2971800" y="3190875"/>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586E82"/>
                </a:solidFill>
                <a:latin typeface="DejaVu Sans"/>
                <a:ea typeface="DejaVu Sans"/>
                <a:cs typeface="DejaVu Sans"/>
              </a:defRPr>
            </a:pPr>
            <a:r>
              <a:rPr sz="750" b="0">
                <a:solidFill>
                  <a:srgbClr val="586E82"/>
                </a:solidFill>
                <a:latin typeface="DejaVu Sans"/>
                <a:ea typeface="DejaVu Sans"/>
                <a:cs typeface="DejaVu Sans"/>
              </a:rPr>
              <a:t>Identity and JWT claims</a:t>
            </a:r>
          </a:p>
        </p:txBody>
      </p:sp>
      <p:sp>
        <p:nvSpPr>
          <p:cNvPr id="19" name="">
            <a:extLst xmlns:a="http://schemas.openxmlformats.org/drawingml/2006/main">
              <a:ext uri="{FF2B5EF4-FFF2-40B4-BE49-F238E27FC236}">
                <a16:creationId xmlns:a16="http://schemas.microsoft.com/office/drawing/2014/main" id="{1C03EE26-DFA9-4FCE-945A-7B5967E72BBA}"/>
              </a:ext>
            </a:extLst>
          </p:cNvPr>
          <p:cNvSpPr>
            <a:spLocks xmlns:a="http://schemas.openxmlformats.org/drawingml/2006/main" noGrp="1"/>
          </p:cNvSpPr>
          <p:nvPr/>
        </p:nvSpPr>
        <p:spPr>
          <a:xfrm xmlns:a="http://schemas.openxmlformats.org/drawingml/2006/main">
            <a:off x="4229100" y="2552700"/>
            <a:ext cx="457200" cy="133350"/>
          </a:xfrm>
          <a:prstGeom xmlns:a="http://schemas.openxmlformats.org/drawingml/2006/main" prst="rightArrow">
            <a:avLst/>
          </a:prstGeom>
          <a:solidFill xmlns:a="http://schemas.openxmlformats.org/drawingml/2006/main">
            <a:srgbClr val="647F95"/>
          </a:solidFill>
          <a:ln xmlns:a="http://schemas.openxmlformats.org/drawingml/2006/main" w="0">
            <a:solidFill>
              <a:srgbClr val="647F95"/>
            </a:solidFill>
            <a:prstDash val="solid"/>
          </a:ln>
        </p:spPr>
      </p:sp>
      <p:sp>
        <p:nvSpPr>
          <p:cNvPr id="20" name="">
            <a:extLst xmlns:a="http://schemas.openxmlformats.org/drawingml/2006/main">
              <a:ext uri="{FF2B5EF4-FFF2-40B4-BE49-F238E27FC236}">
                <a16:creationId xmlns:a16="http://schemas.microsoft.com/office/drawing/2014/main" id="{576C85F8-3DFF-447A-8199-C0EEB2DBE4CE}"/>
              </a:ext>
            </a:extLst>
          </p:cNvPr>
          <p:cNvSpPr>
            <a:spLocks xmlns:a="http://schemas.openxmlformats.org/drawingml/2006/main" noGrp="1"/>
          </p:cNvSpPr>
          <p:nvPr/>
        </p:nvSpPr>
        <p:spPr>
          <a:xfrm xmlns:a="http://schemas.openxmlformats.org/drawingml/2006/main">
            <a:off x="4191000" y="23431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27" b="0">
                <a:solidFill>
                  <a:srgbClr val="586E82"/>
                </a:solidFill>
                <a:latin typeface="DejaVu Sans"/>
                <a:ea typeface="DejaVu Sans"/>
                <a:cs typeface="DejaVu Sans"/>
              </a:defRPr>
            </a:pPr>
            <a:r>
              <a:rPr sz="527" b="0">
                <a:solidFill>
                  <a:srgbClr val="586E82"/>
                </a:solidFill>
                <a:latin typeface="DejaVu Sans"/>
                <a:ea typeface="DejaVu Sans"/>
                <a:cs typeface="DejaVu Sans"/>
              </a:rPr>
              <a:t>JWT</a:t>
            </a:r>
          </a:p>
        </p:txBody>
      </p:sp>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532291f73054489f"/>
          <a:stretch xmlns:a="http://schemas.openxmlformats.org/drawingml/2006/main"/>
        </p:blipFill>
        <p:spPr>
          <a:xfrm xmlns:a="http://schemas.openxmlformats.org/drawingml/2006/main">
            <a:off x="4962525" y="2314575"/>
            <a:ext cx="590550" cy="5905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85AF8E6E-7D19-4AEB-BD1F-86076E2C1C90}"/>
              </a:ext>
            </a:extLst>
          </p:cNvPr>
          <p:cNvSpPr>
            <a:spLocks xmlns:a="http://schemas.openxmlformats.org/drawingml/2006/main" noGrp="1"/>
          </p:cNvSpPr>
          <p:nvPr/>
        </p:nvSpPr>
        <p:spPr>
          <a:xfrm xmlns:a="http://schemas.openxmlformats.org/drawingml/2006/main">
            <a:off x="4705350" y="2943225"/>
            <a:ext cx="110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019" b="1">
                <a:solidFill>
                  <a:srgbClr val="102A43"/>
                </a:solidFill>
                <a:latin typeface="DejaVu Sans"/>
                <a:ea typeface="DejaVu Sans"/>
                <a:cs typeface="DejaVu Sans"/>
              </a:defRPr>
            </a:pPr>
            <a:r>
              <a:rPr sz="1019" b="1">
                <a:solidFill>
                  <a:srgbClr val="102A43"/>
                </a:solidFill>
                <a:latin typeface="DejaVu Sans"/>
                <a:ea typeface="DejaVu Sans"/>
                <a:cs typeface="DejaVu Sans"/>
              </a:rPr>
              <a:t>API Gateway</a:t>
            </a:r>
          </a:p>
        </p:txBody>
      </p:sp>
      <p:sp>
        <p:nvSpPr>
          <p:cNvPr id="23" name="">
            <a:extLst xmlns:a="http://schemas.openxmlformats.org/drawingml/2006/main">
              <a:ext uri="{FF2B5EF4-FFF2-40B4-BE49-F238E27FC236}">
                <a16:creationId xmlns:a16="http://schemas.microsoft.com/office/drawing/2014/main" id="{CE78AD5A-735C-4268-82E3-83596FC1D7C3}"/>
              </a:ext>
            </a:extLst>
          </p:cNvPr>
          <p:cNvSpPr>
            <a:spLocks xmlns:a="http://schemas.openxmlformats.org/drawingml/2006/main" noGrp="1"/>
          </p:cNvSpPr>
          <p:nvPr/>
        </p:nvSpPr>
        <p:spPr>
          <a:xfrm xmlns:a="http://schemas.openxmlformats.org/drawingml/2006/main">
            <a:off x="4667250" y="3190875"/>
            <a:ext cx="1181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586E82"/>
                </a:solidFill>
                <a:latin typeface="DejaVu Sans"/>
                <a:ea typeface="DejaVu Sans"/>
                <a:cs typeface="DejaVu Sans"/>
              </a:defRPr>
            </a:pPr>
            <a:r>
              <a:rPr sz="750" b="0">
                <a:solidFill>
                  <a:srgbClr val="586E82"/>
                </a:solidFill>
                <a:latin typeface="DejaVu Sans"/>
                <a:ea typeface="DejaVu Sans"/>
                <a:cs typeface="DejaVu Sans"/>
              </a:rPr>
              <a:t>Cognito authorizer</a:t>
            </a:r>
          </a:p>
        </p:txBody>
      </p:sp>
      <p:sp>
        <p:nvSpPr>
          <p:cNvPr id="24" name="">
            <a:extLst xmlns:a="http://schemas.openxmlformats.org/drawingml/2006/main">
              <a:ext uri="{FF2B5EF4-FFF2-40B4-BE49-F238E27FC236}">
                <a16:creationId xmlns:a16="http://schemas.microsoft.com/office/drawing/2014/main" id="{C01CEE80-D772-4646-B4C8-EA539399F56A}"/>
              </a:ext>
            </a:extLst>
          </p:cNvPr>
          <p:cNvSpPr>
            <a:spLocks xmlns:a="http://schemas.openxmlformats.org/drawingml/2006/main" noGrp="1"/>
          </p:cNvSpPr>
          <p:nvPr/>
        </p:nvSpPr>
        <p:spPr>
          <a:xfrm xmlns:a="http://schemas.openxmlformats.org/drawingml/2006/main">
            <a:off x="5829300" y="2552700"/>
            <a:ext cx="457200" cy="133350"/>
          </a:xfrm>
          <a:prstGeom xmlns:a="http://schemas.openxmlformats.org/drawingml/2006/main" prst="rightArrow">
            <a:avLst/>
          </a:prstGeom>
          <a:solidFill xmlns:a="http://schemas.openxmlformats.org/drawingml/2006/main">
            <a:srgbClr val="647F95"/>
          </a:solidFill>
          <a:ln xmlns:a="http://schemas.openxmlformats.org/drawingml/2006/main" w="0">
            <a:solidFill>
              <a:srgbClr val="647F95"/>
            </a:solidFill>
            <a:prstDash val="solid"/>
          </a:ln>
        </p:spPr>
      </p:sp>
      <p:sp>
        <p:nvSpPr>
          <p:cNvPr id="25" name="">
            <a:extLst xmlns:a="http://schemas.openxmlformats.org/drawingml/2006/main">
              <a:ext uri="{FF2B5EF4-FFF2-40B4-BE49-F238E27FC236}">
                <a16:creationId xmlns:a16="http://schemas.microsoft.com/office/drawing/2014/main" id="{EF4A635E-AD66-4825-897A-5476B33FC766}"/>
              </a:ext>
            </a:extLst>
          </p:cNvPr>
          <p:cNvSpPr>
            <a:spLocks xmlns:a="http://schemas.openxmlformats.org/drawingml/2006/main" noGrp="1"/>
          </p:cNvSpPr>
          <p:nvPr/>
        </p:nvSpPr>
        <p:spPr>
          <a:xfrm xmlns:a="http://schemas.openxmlformats.org/drawingml/2006/main">
            <a:off x="5791200" y="23431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27" b="0">
                <a:solidFill>
                  <a:srgbClr val="586E82"/>
                </a:solidFill>
                <a:latin typeface="DejaVu Sans"/>
                <a:ea typeface="DejaVu Sans"/>
                <a:cs typeface="DejaVu Sans"/>
              </a:defRPr>
            </a:pPr>
            <a:r>
              <a:rPr sz="527" b="0">
                <a:solidFill>
                  <a:srgbClr val="586E82"/>
                </a:solidFill>
                <a:latin typeface="DejaVu Sans"/>
                <a:ea typeface="DejaVu Sans"/>
                <a:cs typeface="DejaVu Sans"/>
              </a:rPr>
              <a:t>Invoke</a:t>
            </a:r>
          </a:p>
        </p:txBody>
      </p:sp>
      <p:pic>
        <p:nvPicPr>
          <p:cNvPr id="110" name=""/>
          <p:cNvPicPr>
            <a:picLocks xmlns:a="http://schemas.openxmlformats.org/drawingml/2006/main" noChangeAspect="1"/>
          </p:cNvPicPr>
          <p:nvPr/>
        </p:nvPicPr>
        <p:blipFill>
          <a:blip xmlns:r="http://schemas.openxmlformats.org/officeDocument/2006/relationships" xmlns:a="http://schemas.openxmlformats.org/drawingml/2006/main" r:embed="R91467b48a2464124"/>
          <a:stretch xmlns:a="http://schemas.openxmlformats.org/drawingml/2006/main"/>
        </p:blipFill>
        <p:spPr>
          <a:xfrm xmlns:a="http://schemas.openxmlformats.org/drawingml/2006/main">
            <a:off x="6686550" y="2314575"/>
            <a:ext cx="590550" cy="5905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50D960C6-BC2F-4EEB-8891-195640BEF731}"/>
              </a:ext>
            </a:extLst>
          </p:cNvPr>
          <p:cNvSpPr>
            <a:spLocks xmlns:a="http://schemas.openxmlformats.org/drawingml/2006/main" noGrp="1"/>
          </p:cNvSpPr>
          <p:nvPr/>
        </p:nvSpPr>
        <p:spPr>
          <a:xfrm xmlns:a="http://schemas.openxmlformats.org/drawingml/2006/main">
            <a:off x="6305550" y="2943225"/>
            <a:ext cx="1352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914" b="1">
                <a:solidFill>
                  <a:srgbClr val="102A43"/>
                </a:solidFill>
                <a:latin typeface="DejaVu Sans"/>
                <a:ea typeface="DejaVu Sans"/>
                <a:cs typeface="DejaVu Sans"/>
              </a:defRPr>
            </a:pPr>
            <a:r>
              <a:rPr sz="914" b="1">
                <a:solidFill>
                  <a:srgbClr val="102A43"/>
                </a:solidFill>
                <a:latin typeface="DejaVu Sans"/>
                <a:ea typeface="DejaVu Sans"/>
                <a:cs typeface="DejaVu Sans"/>
              </a:rPr>
              <a:t>Asset API Lambda</a:t>
            </a:r>
          </a:p>
        </p:txBody>
      </p:sp>
      <p:sp>
        <p:nvSpPr>
          <p:cNvPr id="28" name="">
            <a:extLst xmlns:a="http://schemas.openxmlformats.org/drawingml/2006/main">
              <a:ext uri="{FF2B5EF4-FFF2-40B4-BE49-F238E27FC236}">
                <a16:creationId xmlns:a16="http://schemas.microsoft.com/office/drawing/2014/main" id="{8341E187-1E51-46E9-A002-5CC1A24C2D34}"/>
              </a:ext>
            </a:extLst>
          </p:cNvPr>
          <p:cNvSpPr>
            <a:spLocks xmlns:a="http://schemas.openxmlformats.org/drawingml/2006/main" noGrp="1"/>
          </p:cNvSpPr>
          <p:nvPr/>
        </p:nvSpPr>
        <p:spPr>
          <a:xfrm xmlns:a="http://schemas.openxmlformats.org/drawingml/2006/main">
            <a:off x="6267450" y="319087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586E82"/>
                </a:solidFill>
                <a:latin typeface="DejaVu Sans"/>
                <a:ea typeface="DejaVu Sans"/>
                <a:cs typeface="DejaVu Sans"/>
              </a:defRPr>
            </a:pPr>
            <a:r>
              <a:rPr sz="750" b="0">
                <a:solidFill>
                  <a:srgbClr val="586E82"/>
                </a:solidFill>
                <a:latin typeface="DejaVu Sans"/>
                <a:ea typeface="DejaVu Sans"/>
                <a:cs typeface="DejaVu Sans"/>
              </a:rPr>
              <a:t>Authorization and lifecycle logic</a:t>
            </a:r>
          </a:p>
        </p:txBody>
      </p:sp>
      <p:sp>
        <p:nvSpPr>
          <p:cNvPr id="29" name="">
            <a:extLst xmlns:a="http://schemas.openxmlformats.org/drawingml/2006/main">
              <a:ext uri="{FF2B5EF4-FFF2-40B4-BE49-F238E27FC236}">
                <a16:creationId xmlns:a16="http://schemas.microsoft.com/office/drawing/2014/main" id="{EF62A74A-F372-4633-97CA-C55B059D767C}"/>
              </a:ext>
            </a:extLst>
          </p:cNvPr>
          <p:cNvSpPr>
            <a:spLocks xmlns:a="http://schemas.openxmlformats.org/drawingml/2006/main" noGrp="1"/>
          </p:cNvSpPr>
          <p:nvPr/>
        </p:nvSpPr>
        <p:spPr>
          <a:xfrm xmlns:a="http://schemas.openxmlformats.org/drawingml/2006/main">
            <a:off x="942975" y="2552700"/>
            <a:ext cx="447675" cy="133350"/>
          </a:xfrm>
          <a:prstGeom xmlns:a="http://schemas.openxmlformats.org/drawingml/2006/main" prst="rightArrow">
            <a:avLst/>
          </a:prstGeom>
          <a:solidFill xmlns:a="http://schemas.openxmlformats.org/drawingml/2006/main">
            <a:srgbClr val="647F95"/>
          </a:solidFill>
          <a:ln xmlns:a="http://schemas.openxmlformats.org/drawingml/2006/main" w="0">
            <a:solidFill>
              <a:srgbClr val="647F95"/>
            </a:solidFill>
            <a:prstDash val="solid"/>
          </a:ln>
        </p:spPr>
      </p:sp>
      <p:sp>
        <p:nvSpPr>
          <p:cNvPr id="30" name="">
            <a:extLst xmlns:a="http://schemas.openxmlformats.org/drawingml/2006/main">
              <a:ext uri="{FF2B5EF4-FFF2-40B4-BE49-F238E27FC236}">
                <a16:creationId xmlns:a16="http://schemas.microsoft.com/office/drawing/2014/main" id="{6990C16E-6F0F-4592-9A6A-C48F972FF816}"/>
              </a:ext>
            </a:extLst>
          </p:cNvPr>
          <p:cNvSpPr>
            <a:spLocks xmlns:a="http://schemas.openxmlformats.org/drawingml/2006/main" noGrp="1"/>
          </p:cNvSpPr>
          <p:nvPr/>
        </p:nvSpPr>
        <p:spPr>
          <a:xfrm xmlns:a="http://schemas.openxmlformats.org/drawingml/2006/main">
            <a:off x="904875" y="2343150"/>
            <a:ext cx="523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27" b="0">
                <a:solidFill>
                  <a:srgbClr val="586E82"/>
                </a:solidFill>
                <a:latin typeface="DejaVu Sans"/>
                <a:ea typeface="DejaVu Sans"/>
                <a:cs typeface="DejaVu Sans"/>
              </a:defRPr>
            </a:pPr>
            <a:r>
              <a:rPr sz="527" b="0">
                <a:solidFill>
                  <a:srgbClr val="586E82"/>
                </a:solidFill>
                <a:latin typeface="DejaVu Sans"/>
                <a:ea typeface="DejaVu Sans"/>
                <a:cs typeface="DejaVu Sans"/>
              </a:rPr>
              <a:t>App</a:t>
            </a:r>
          </a:p>
        </p:txBody>
      </p:sp>
      <p:sp>
        <p:nvSpPr>
          <p:cNvPr id="31" name="">
            <a:extLst xmlns:a="http://schemas.openxmlformats.org/drawingml/2006/main">
              <a:ext uri="{FF2B5EF4-FFF2-40B4-BE49-F238E27FC236}">
                <a16:creationId xmlns:a16="http://schemas.microsoft.com/office/drawing/2014/main" id="{68F13FA6-B0D1-4C32-BA4A-808972E1F999}"/>
              </a:ext>
            </a:extLst>
          </p:cNvPr>
          <p:cNvSpPr>
            <a:spLocks xmlns:a="http://schemas.openxmlformats.org/drawingml/2006/main" noGrp="1"/>
          </p:cNvSpPr>
          <p:nvPr/>
        </p:nvSpPr>
        <p:spPr>
          <a:xfrm xmlns:a="http://schemas.openxmlformats.org/drawingml/2006/main">
            <a:off x="6905625" y="3390900"/>
            <a:ext cx="19050" cy="171450"/>
          </a:xfrm>
          <a:prstGeom xmlns:a="http://schemas.openxmlformats.org/drawingml/2006/main" prst="rect">
            <a:avLst/>
          </a:prstGeom>
          <a:solidFill xmlns:a="http://schemas.openxmlformats.org/drawingml/2006/main">
            <a:srgbClr val="647F9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C6A91F9-9BDC-49BA-9E0F-0A9A6CAB5047}"/>
              </a:ext>
            </a:extLst>
          </p:cNvPr>
          <p:cNvSpPr>
            <a:spLocks xmlns:a="http://schemas.openxmlformats.org/drawingml/2006/main" noGrp="1"/>
          </p:cNvSpPr>
          <p:nvPr/>
        </p:nvSpPr>
        <p:spPr>
          <a:xfrm xmlns:a="http://schemas.openxmlformats.org/drawingml/2006/main">
            <a:off x="5276850" y="3543300"/>
            <a:ext cx="3886200" cy="19050"/>
          </a:xfrm>
          <a:prstGeom xmlns:a="http://schemas.openxmlformats.org/drawingml/2006/main" prst="rect">
            <a:avLst/>
          </a:prstGeom>
          <a:solidFill xmlns:a="http://schemas.openxmlformats.org/drawingml/2006/main">
            <a:srgbClr val="647F9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D04ACC3-B6D2-4709-9D08-B5709B39E1DD}"/>
              </a:ext>
            </a:extLst>
          </p:cNvPr>
          <p:cNvSpPr>
            <a:spLocks xmlns:a="http://schemas.openxmlformats.org/drawingml/2006/main" noGrp="1"/>
          </p:cNvSpPr>
          <p:nvPr/>
        </p:nvSpPr>
        <p:spPr>
          <a:xfrm xmlns:a="http://schemas.openxmlformats.org/drawingml/2006/main">
            <a:off x="5210175" y="3543300"/>
            <a:ext cx="133350" cy="238125"/>
          </a:xfrm>
          <a:prstGeom xmlns:a="http://schemas.openxmlformats.org/drawingml/2006/main" prst="downArrow">
            <a:avLst/>
          </a:prstGeom>
          <a:solidFill xmlns:a="http://schemas.openxmlformats.org/drawingml/2006/main">
            <a:srgbClr val="647F95"/>
          </a:solidFill>
          <a:ln xmlns:a="http://schemas.openxmlformats.org/drawingml/2006/main" w="0">
            <a:solidFill>
              <a:srgbClr val="647F95"/>
            </a:solidFill>
            <a:prstDash val="solid"/>
          </a:ln>
        </p:spPr>
      </p:sp>
      <p:sp>
        <p:nvSpPr>
          <p:cNvPr id="34" name="">
            <a:extLst xmlns:a="http://schemas.openxmlformats.org/drawingml/2006/main">
              <a:ext uri="{FF2B5EF4-FFF2-40B4-BE49-F238E27FC236}">
                <a16:creationId xmlns:a16="http://schemas.microsoft.com/office/drawing/2014/main" id="{92F87B36-6234-462C-A3AF-159FE0C3459C}"/>
              </a:ext>
            </a:extLst>
          </p:cNvPr>
          <p:cNvSpPr>
            <a:spLocks xmlns:a="http://schemas.openxmlformats.org/drawingml/2006/main" noGrp="1"/>
          </p:cNvSpPr>
          <p:nvPr/>
        </p:nvSpPr>
        <p:spPr>
          <a:xfrm xmlns:a="http://schemas.openxmlformats.org/drawingml/2006/main">
            <a:off x="5381625" y="3567113"/>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641" b="0">
                <a:solidFill>
                  <a:srgbClr val="586E82"/>
                </a:solidFill>
                <a:latin typeface="DejaVu Sans"/>
                <a:ea typeface="DejaVu Sans"/>
                <a:cs typeface="DejaVu Sans"/>
              </a:defRPr>
            </a:pPr>
            <a:r>
              <a:rPr sz="641" b="0">
                <a:solidFill>
                  <a:srgbClr val="586E82"/>
                </a:solidFill>
                <a:latin typeface="DejaVu Sans"/>
                <a:ea typeface="DejaVu Sans"/>
                <a:cs typeface="DejaVu Sans"/>
              </a:rPr>
              <a:t>Read / write</a:t>
            </a:r>
          </a:p>
        </p:txBody>
      </p:sp>
      <p:sp>
        <p:nvSpPr>
          <p:cNvPr id="35" name="">
            <a:extLst xmlns:a="http://schemas.openxmlformats.org/drawingml/2006/main">
              <a:ext uri="{FF2B5EF4-FFF2-40B4-BE49-F238E27FC236}">
                <a16:creationId xmlns:a16="http://schemas.microsoft.com/office/drawing/2014/main" id="{90AA1985-EE57-4D1B-99F2-6A4D1C582E6E}"/>
              </a:ext>
            </a:extLst>
          </p:cNvPr>
          <p:cNvSpPr>
            <a:spLocks xmlns:a="http://schemas.openxmlformats.org/drawingml/2006/main" noGrp="1"/>
          </p:cNvSpPr>
          <p:nvPr/>
        </p:nvSpPr>
        <p:spPr>
          <a:xfrm xmlns:a="http://schemas.openxmlformats.org/drawingml/2006/main">
            <a:off x="7124700" y="3543300"/>
            <a:ext cx="133350" cy="238125"/>
          </a:xfrm>
          <a:prstGeom xmlns:a="http://schemas.openxmlformats.org/drawingml/2006/main" prst="downArrow">
            <a:avLst/>
          </a:prstGeom>
          <a:solidFill xmlns:a="http://schemas.openxmlformats.org/drawingml/2006/main">
            <a:srgbClr val="647F95"/>
          </a:solidFill>
          <a:ln xmlns:a="http://schemas.openxmlformats.org/drawingml/2006/main" w="0">
            <a:solidFill>
              <a:srgbClr val="647F95"/>
            </a:solidFill>
            <a:prstDash val="solid"/>
          </a:ln>
        </p:spPr>
      </p:sp>
      <p:sp>
        <p:nvSpPr>
          <p:cNvPr id="36" name="">
            <a:extLst xmlns:a="http://schemas.openxmlformats.org/drawingml/2006/main">
              <a:ext uri="{FF2B5EF4-FFF2-40B4-BE49-F238E27FC236}">
                <a16:creationId xmlns:a16="http://schemas.microsoft.com/office/drawing/2014/main" id="{FD8FCF26-F5C7-4D5B-8C23-6E021F110FC0}"/>
              </a:ext>
            </a:extLst>
          </p:cNvPr>
          <p:cNvSpPr>
            <a:spLocks xmlns:a="http://schemas.openxmlformats.org/drawingml/2006/main" noGrp="1"/>
          </p:cNvSpPr>
          <p:nvPr/>
        </p:nvSpPr>
        <p:spPr>
          <a:xfrm xmlns:a="http://schemas.openxmlformats.org/drawingml/2006/main">
            <a:off x="7296150" y="3567113"/>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67" b="0">
                <a:solidFill>
                  <a:srgbClr val="586E82"/>
                </a:solidFill>
                <a:latin typeface="DejaVu Sans"/>
                <a:ea typeface="DejaVu Sans"/>
                <a:cs typeface="DejaVu Sans"/>
              </a:defRPr>
            </a:pPr>
            <a:r>
              <a:rPr sz="567" b="0">
                <a:solidFill>
                  <a:srgbClr val="586E82"/>
                </a:solidFill>
                <a:latin typeface="DejaVu Sans"/>
                <a:ea typeface="DejaVu Sans"/>
                <a:cs typeface="DejaVu Sans"/>
              </a:rPr>
              <a:t>Invoke model</a:t>
            </a:r>
          </a:p>
        </p:txBody>
      </p:sp>
      <p:sp>
        <p:nvSpPr>
          <p:cNvPr id="37" name="">
            <a:extLst xmlns:a="http://schemas.openxmlformats.org/drawingml/2006/main">
              <a:ext uri="{FF2B5EF4-FFF2-40B4-BE49-F238E27FC236}">
                <a16:creationId xmlns:a16="http://schemas.microsoft.com/office/drawing/2014/main" id="{84050D0E-4CA5-4581-899F-350E7077F784}"/>
              </a:ext>
            </a:extLst>
          </p:cNvPr>
          <p:cNvSpPr>
            <a:spLocks xmlns:a="http://schemas.openxmlformats.org/drawingml/2006/main" noGrp="1"/>
          </p:cNvSpPr>
          <p:nvPr/>
        </p:nvSpPr>
        <p:spPr>
          <a:xfrm xmlns:a="http://schemas.openxmlformats.org/drawingml/2006/main">
            <a:off x="9096375" y="3543300"/>
            <a:ext cx="133350" cy="238125"/>
          </a:xfrm>
          <a:prstGeom xmlns:a="http://schemas.openxmlformats.org/drawingml/2006/main" prst="downArrow">
            <a:avLst/>
          </a:prstGeom>
          <a:solidFill xmlns:a="http://schemas.openxmlformats.org/drawingml/2006/main">
            <a:srgbClr val="647F95"/>
          </a:solidFill>
          <a:ln xmlns:a="http://schemas.openxmlformats.org/drawingml/2006/main" w="0">
            <a:solidFill>
              <a:srgbClr val="647F95"/>
            </a:solidFill>
            <a:prstDash val="solid"/>
          </a:ln>
        </p:spPr>
      </p:sp>
      <p:sp>
        <p:nvSpPr>
          <p:cNvPr id="38" name="">
            <a:extLst xmlns:a="http://schemas.openxmlformats.org/drawingml/2006/main">
              <a:ext uri="{FF2B5EF4-FFF2-40B4-BE49-F238E27FC236}">
                <a16:creationId xmlns:a16="http://schemas.microsoft.com/office/drawing/2014/main" id="{B7B23805-19BE-486F-9E8C-26CABC79F614}"/>
              </a:ext>
            </a:extLst>
          </p:cNvPr>
          <p:cNvSpPr>
            <a:spLocks xmlns:a="http://schemas.openxmlformats.org/drawingml/2006/main" noGrp="1"/>
          </p:cNvSpPr>
          <p:nvPr/>
        </p:nvSpPr>
        <p:spPr>
          <a:xfrm xmlns:a="http://schemas.openxmlformats.org/drawingml/2006/main">
            <a:off x="9267825" y="3567113"/>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641" b="0">
                <a:solidFill>
                  <a:srgbClr val="586E82"/>
                </a:solidFill>
                <a:latin typeface="DejaVu Sans"/>
                <a:ea typeface="DejaVu Sans"/>
                <a:cs typeface="DejaVu Sans"/>
              </a:defRPr>
            </a:pPr>
            <a:r>
              <a:rPr sz="641" b="0">
                <a:solidFill>
                  <a:srgbClr val="586E82"/>
                </a:solidFill>
                <a:latin typeface="DejaVu Sans"/>
                <a:ea typeface="DejaVu Sans"/>
                <a:cs typeface="DejaVu Sans"/>
              </a:rPr>
              <a:t>Presign URL</a:t>
            </a:r>
          </a:p>
        </p:txBody>
      </p:sp>
      <p:pic>
        <p:nvPicPr>
          <p:cNvPr id="123" name=""/>
          <p:cNvPicPr>
            <a:picLocks xmlns:a="http://schemas.openxmlformats.org/drawingml/2006/main" noChangeAspect="1"/>
          </p:cNvPicPr>
          <p:nvPr/>
        </p:nvPicPr>
        <p:blipFill>
          <a:blip xmlns:r="http://schemas.openxmlformats.org/officeDocument/2006/relationships" xmlns:a="http://schemas.openxmlformats.org/drawingml/2006/main" r:embed="R6dfe68008f764da5"/>
          <a:stretch xmlns:a="http://schemas.openxmlformats.org/drawingml/2006/main"/>
        </p:blipFill>
        <p:spPr>
          <a:xfrm xmlns:a="http://schemas.openxmlformats.org/drawingml/2006/main">
            <a:off x="4991100" y="3829050"/>
            <a:ext cx="590550" cy="590550"/>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680299E6-F8CC-4D27-9CC5-01C4D2770848}"/>
              </a:ext>
            </a:extLst>
          </p:cNvPr>
          <p:cNvSpPr>
            <a:spLocks xmlns:a="http://schemas.openxmlformats.org/drawingml/2006/main" noGrp="1"/>
          </p:cNvSpPr>
          <p:nvPr/>
        </p:nvSpPr>
        <p:spPr>
          <a:xfrm xmlns:a="http://schemas.openxmlformats.org/drawingml/2006/main">
            <a:off x="4686300" y="4457700"/>
            <a:ext cx="120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25" b="1">
                <a:solidFill>
                  <a:srgbClr val="102A43"/>
                </a:solidFill>
                <a:latin typeface="DejaVu Sans"/>
                <a:ea typeface="DejaVu Sans"/>
                <a:cs typeface="DejaVu Sans"/>
              </a:defRPr>
            </a:pPr>
            <a:r>
              <a:rPr sz="725" b="1">
                <a:solidFill>
                  <a:srgbClr val="102A43"/>
                </a:solidFill>
                <a:latin typeface="DejaVu Sans"/>
                <a:ea typeface="DejaVu Sans"/>
                <a:cs typeface="DejaVu Sans"/>
              </a:rPr>
              <a:t>Amazon DynamoDB</a:t>
            </a:r>
          </a:p>
        </p:txBody>
      </p:sp>
      <p:sp>
        <p:nvSpPr>
          <p:cNvPr id="41" name="">
            <a:extLst xmlns:a="http://schemas.openxmlformats.org/drawingml/2006/main">
              <a:ext uri="{FF2B5EF4-FFF2-40B4-BE49-F238E27FC236}">
                <a16:creationId xmlns:a16="http://schemas.microsoft.com/office/drawing/2014/main" id="{245552CE-2509-493B-BA2B-2DA844B245DE}"/>
              </a:ext>
            </a:extLst>
          </p:cNvPr>
          <p:cNvSpPr>
            <a:spLocks xmlns:a="http://schemas.openxmlformats.org/drawingml/2006/main" noGrp="1"/>
          </p:cNvSpPr>
          <p:nvPr/>
        </p:nvSpPr>
        <p:spPr>
          <a:xfrm xmlns:a="http://schemas.openxmlformats.org/drawingml/2006/main">
            <a:off x="4648200" y="47053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586E82"/>
                </a:solidFill>
                <a:latin typeface="DejaVu Sans"/>
                <a:ea typeface="DejaVu Sans"/>
                <a:cs typeface="DejaVu Sans"/>
              </a:defRPr>
            </a:pPr>
            <a:r>
              <a:rPr sz="750" b="0">
                <a:solidFill>
                  <a:srgbClr val="586E82"/>
                </a:solidFill>
                <a:latin typeface="DejaVu Sans"/>
                <a:ea typeface="DejaVu Sans"/>
                <a:cs typeface="DejaVu Sans"/>
              </a:rPr>
              <a:t>Assets and maintenance history</a:t>
            </a:r>
          </a:p>
        </p:txBody>
      </p:sp>
      <p:pic>
        <p:nvPicPr>
          <p:cNvPr id="126" name=""/>
          <p:cNvPicPr>
            <a:picLocks xmlns:a="http://schemas.openxmlformats.org/drawingml/2006/main" noChangeAspect="1"/>
          </p:cNvPicPr>
          <p:nvPr/>
        </p:nvPicPr>
        <p:blipFill>
          <a:blip xmlns:r="http://schemas.openxmlformats.org/officeDocument/2006/relationships" xmlns:a="http://schemas.openxmlformats.org/drawingml/2006/main" r:embed="R2769acbb9f55421b"/>
          <a:stretch xmlns:a="http://schemas.openxmlformats.org/drawingml/2006/main"/>
        </p:blipFill>
        <p:spPr>
          <a:xfrm xmlns:a="http://schemas.openxmlformats.org/drawingml/2006/main">
            <a:off x="6896100" y="3829050"/>
            <a:ext cx="590550" cy="590550"/>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CE31F5BB-9D5F-4A97-8436-3C2D4827A5CE}"/>
              </a:ext>
            </a:extLst>
          </p:cNvPr>
          <p:cNvSpPr>
            <a:spLocks xmlns:a="http://schemas.openxmlformats.org/drawingml/2006/main" noGrp="1"/>
          </p:cNvSpPr>
          <p:nvPr/>
        </p:nvSpPr>
        <p:spPr>
          <a:xfrm xmlns:a="http://schemas.openxmlformats.org/drawingml/2006/main">
            <a:off x="6591300" y="4457700"/>
            <a:ext cx="120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851" b="1">
                <a:solidFill>
                  <a:srgbClr val="102A43"/>
                </a:solidFill>
                <a:latin typeface="DejaVu Sans"/>
                <a:ea typeface="DejaVu Sans"/>
                <a:cs typeface="DejaVu Sans"/>
              </a:defRPr>
            </a:pPr>
            <a:r>
              <a:rPr sz="851" b="1">
                <a:solidFill>
                  <a:srgbClr val="102A43"/>
                </a:solidFill>
                <a:latin typeface="DejaVu Sans"/>
                <a:ea typeface="DejaVu Sans"/>
                <a:cs typeface="DejaVu Sans"/>
              </a:rPr>
              <a:t>Amazon Bedrock</a:t>
            </a:r>
          </a:p>
        </p:txBody>
      </p:sp>
      <p:sp>
        <p:nvSpPr>
          <p:cNvPr id="44" name="">
            <a:extLst xmlns:a="http://schemas.openxmlformats.org/drawingml/2006/main">
              <a:ext uri="{FF2B5EF4-FFF2-40B4-BE49-F238E27FC236}">
                <a16:creationId xmlns:a16="http://schemas.microsoft.com/office/drawing/2014/main" id="{E516EAE4-8D90-4E17-BB56-A5146BACB806}"/>
              </a:ext>
            </a:extLst>
          </p:cNvPr>
          <p:cNvSpPr>
            <a:spLocks xmlns:a="http://schemas.openxmlformats.org/drawingml/2006/main" noGrp="1"/>
          </p:cNvSpPr>
          <p:nvPr/>
        </p:nvSpPr>
        <p:spPr>
          <a:xfrm xmlns:a="http://schemas.openxmlformats.org/drawingml/2006/main">
            <a:off x="6553200" y="47053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586E82"/>
                </a:solidFill>
                <a:latin typeface="DejaVu Sans"/>
                <a:ea typeface="DejaVu Sans"/>
                <a:cs typeface="DejaVu Sans"/>
              </a:defRPr>
            </a:pPr>
            <a:r>
              <a:rPr sz="750" b="0">
                <a:solidFill>
                  <a:srgbClr val="586E82"/>
                </a:solidFill>
                <a:latin typeface="DejaVu Sans"/>
                <a:ea typeface="DejaVu Sans"/>
                <a:cs typeface="DejaVu Sans"/>
              </a:rPr>
              <a:t>Nova Lite recommendations</a:t>
            </a:r>
          </a:p>
        </p:txBody>
      </p:sp>
      <p:pic>
        <p:nvPicPr>
          <p:cNvPr id="129" name=""/>
          <p:cNvPicPr>
            <a:picLocks xmlns:a="http://schemas.openxmlformats.org/drawingml/2006/main" noChangeAspect="1"/>
          </p:cNvPicPr>
          <p:nvPr/>
        </p:nvPicPr>
        <p:blipFill>
          <a:blip xmlns:r="http://schemas.openxmlformats.org/officeDocument/2006/relationships" xmlns:a="http://schemas.openxmlformats.org/drawingml/2006/main" r:embed="Rad19b593a84045ae"/>
          <a:stretch xmlns:a="http://schemas.openxmlformats.org/drawingml/2006/main"/>
        </p:blipFill>
        <p:spPr>
          <a:xfrm xmlns:a="http://schemas.openxmlformats.org/drawingml/2006/main">
            <a:off x="8877300" y="3829050"/>
            <a:ext cx="590550" cy="590550"/>
          </a:xfrm>
          <a:prstGeom xmlns:a="http://schemas.openxmlformats.org/drawingml/2006/main" prst="rect">
            <a:avLst/>
          </a:prstGeom>
        </p:spPr>
      </p:pic>
      <p:sp>
        <p:nvSpPr>
          <p:cNvPr id="46" name="">
            <a:extLst xmlns:a="http://schemas.openxmlformats.org/drawingml/2006/main">
              <a:ext uri="{FF2B5EF4-FFF2-40B4-BE49-F238E27FC236}">
                <a16:creationId xmlns:a16="http://schemas.microsoft.com/office/drawing/2014/main" id="{889C541B-A589-46D6-BCAB-EA4306B5ECE9}"/>
              </a:ext>
            </a:extLst>
          </p:cNvPr>
          <p:cNvSpPr>
            <a:spLocks xmlns:a="http://schemas.openxmlformats.org/drawingml/2006/main" noGrp="1"/>
          </p:cNvSpPr>
          <p:nvPr/>
        </p:nvSpPr>
        <p:spPr>
          <a:xfrm xmlns:a="http://schemas.openxmlformats.org/drawingml/2006/main">
            <a:off x="8572500" y="4457700"/>
            <a:ext cx="120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029" b="1">
                <a:solidFill>
                  <a:srgbClr val="102A43"/>
                </a:solidFill>
                <a:latin typeface="DejaVu Sans"/>
                <a:ea typeface="DejaVu Sans"/>
                <a:cs typeface="DejaVu Sans"/>
              </a:defRPr>
            </a:pPr>
            <a:r>
              <a:rPr sz="1029" b="1">
                <a:solidFill>
                  <a:srgbClr val="102A43"/>
                </a:solidFill>
                <a:latin typeface="DejaVu Sans"/>
                <a:ea typeface="DejaVu Sans"/>
                <a:cs typeface="DejaVu Sans"/>
              </a:rPr>
              <a:t>Amazon S3</a:t>
            </a:r>
          </a:p>
        </p:txBody>
      </p:sp>
      <p:sp>
        <p:nvSpPr>
          <p:cNvPr id="47" name="">
            <a:extLst xmlns:a="http://schemas.openxmlformats.org/drawingml/2006/main">
              <a:ext uri="{FF2B5EF4-FFF2-40B4-BE49-F238E27FC236}">
                <a16:creationId xmlns:a16="http://schemas.microsoft.com/office/drawing/2014/main" id="{563050F0-7467-4303-B62B-624A2082B837}"/>
              </a:ext>
            </a:extLst>
          </p:cNvPr>
          <p:cNvSpPr>
            <a:spLocks xmlns:a="http://schemas.openxmlformats.org/drawingml/2006/main" noGrp="1"/>
          </p:cNvSpPr>
          <p:nvPr/>
        </p:nvSpPr>
        <p:spPr>
          <a:xfrm xmlns:a="http://schemas.openxmlformats.org/drawingml/2006/main">
            <a:off x="8534400" y="47053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586E82"/>
                </a:solidFill>
                <a:latin typeface="DejaVu Sans"/>
                <a:ea typeface="DejaVu Sans"/>
                <a:cs typeface="DejaVu Sans"/>
              </a:defRPr>
            </a:pPr>
            <a:r>
              <a:rPr sz="750" b="0">
                <a:solidFill>
                  <a:srgbClr val="586E82"/>
                </a:solidFill>
                <a:latin typeface="DejaVu Sans"/>
                <a:ea typeface="DejaVu Sans"/>
                <a:cs typeface="DejaVu Sans"/>
              </a:rPr>
              <a:t>Private asset photos</a:t>
            </a:r>
          </a:p>
        </p:txBody>
      </p:sp>
      <p:sp>
        <p:nvSpPr>
          <p:cNvPr id="48" name="">
            <a:extLst xmlns:a="http://schemas.openxmlformats.org/drawingml/2006/main">
              <a:ext uri="{FF2B5EF4-FFF2-40B4-BE49-F238E27FC236}">
                <a16:creationId xmlns:a16="http://schemas.microsoft.com/office/drawing/2014/main" id="{4DBA0F73-09E0-4E3F-843A-0D751D13F5F1}"/>
              </a:ext>
            </a:extLst>
          </p:cNvPr>
          <p:cNvSpPr>
            <a:spLocks xmlns:a="http://schemas.openxmlformats.org/drawingml/2006/main" noGrp="1"/>
          </p:cNvSpPr>
          <p:nvPr/>
        </p:nvSpPr>
        <p:spPr>
          <a:xfrm xmlns:a="http://schemas.openxmlformats.org/drawingml/2006/main">
            <a:off x="1371600" y="5000625"/>
            <a:ext cx="7810500" cy="1143000"/>
          </a:xfrm>
          <a:prstGeom xmlns:a="http://schemas.openxmlformats.org/drawingml/2006/main" prst="roundRect">
            <a:avLst>
              <a:gd name="adj" fmla="val 8333"/>
            </a:avLst>
          </a:prstGeom>
          <a:solidFill xmlns:a="http://schemas.openxmlformats.org/drawingml/2006/main">
            <a:srgbClr val="F3F7FA"/>
          </a:solidFill>
          <a:ln xmlns:a="http://schemas.openxmlformats.org/drawingml/2006/main" w="9525">
            <a:solidFill>
              <a:srgbClr val="CBD9E4"/>
            </a:solidFill>
            <a:prstDash val="solid"/>
          </a:ln>
        </p:spPr>
      </p:sp>
      <p:sp>
        <p:nvSpPr>
          <p:cNvPr id="49" name="">
            <a:extLst xmlns:a="http://schemas.openxmlformats.org/drawingml/2006/main">
              <a:ext uri="{FF2B5EF4-FFF2-40B4-BE49-F238E27FC236}">
                <a16:creationId xmlns:a16="http://schemas.microsoft.com/office/drawing/2014/main" id="{87B6EBD9-3585-4462-9867-0E380992F431}"/>
              </a:ext>
            </a:extLst>
          </p:cNvPr>
          <p:cNvSpPr>
            <a:spLocks xmlns:a="http://schemas.openxmlformats.org/drawingml/2006/main" noGrp="1"/>
          </p:cNvSpPr>
          <p:nvPr/>
        </p:nvSpPr>
        <p:spPr>
          <a:xfrm xmlns:a="http://schemas.openxmlformats.org/drawingml/2006/main">
            <a:off x="1504950" y="505777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25" b="1">
                <a:solidFill>
                  <a:srgbClr val="287F76"/>
                </a:solidFill>
                <a:latin typeface="DejaVu Sans"/>
                <a:ea typeface="DejaVu Sans"/>
                <a:cs typeface="DejaVu Sans"/>
              </a:defRPr>
            </a:pPr>
            <a:r>
              <a:rPr sz="525" b="1">
                <a:solidFill>
                  <a:srgbClr val="287F76"/>
                </a:solidFill>
                <a:latin typeface="DejaVu Sans"/>
                <a:ea typeface="DejaVu Sans"/>
                <a:cs typeface="DejaVu Sans"/>
              </a:rPr>
              <a:t>DAILY MAINTENANCE AUTOMATION</a:t>
            </a:r>
          </a:p>
        </p:txBody>
      </p:sp>
      <p:pic>
        <p:nvPicPr>
          <p:cNvPr id="134" name=""/>
          <p:cNvPicPr>
            <a:picLocks xmlns:a="http://schemas.openxmlformats.org/drawingml/2006/main" noChangeAspect="1"/>
          </p:cNvPicPr>
          <p:nvPr/>
        </p:nvPicPr>
        <p:blipFill>
          <a:blip xmlns:r="http://schemas.openxmlformats.org/officeDocument/2006/relationships" xmlns:a="http://schemas.openxmlformats.org/drawingml/2006/main" r:embed="R3fe84365e00c4ad2"/>
          <a:stretch xmlns:a="http://schemas.openxmlformats.org/drawingml/2006/main"/>
        </p:blipFill>
        <p:spPr>
          <a:xfrm xmlns:a="http://schemas.openxmlformats.org/drawingml/2006/main">
            <a:off x="1866900" y="5238750"/>
            <a:ext cx="438150" cy="438150"/>
          </a:xfrm>
          <a:prstGeom xmlns:a="http://schemas.openxmlformats.org/drawingml/2006/main" prst="rect">
            <a:avLst/>
          </a:prstGeom>
        </p:spPr>
      </p:pic>
      <p:sp>
        <p:nvSpPr>
          <p:cNvPr id="51" name="">
            <a:extLst xmlns:a="http://schemas.openxmlformats.org/drawingml/2006/main">
              <a:ext uri="{FF2B5EF4-FFF2-40B4-BE49-F238E27FC236}">
                <a16:creationId xmlns:a16="http://schemas.microsoft.com/office/drawing/2014/main" id="{2283CF87-6BA9-46E5-8E7E-BFC8B4AF627A}"/>
              </a:ext>
            </a:extLst>
          </p:cNvPr>
          <p:cNvSpPr>
            <a:spLocks xmlns:a="http://schemas.openxmlformats.org/drawingml/2006/main" noGrp="1"/>
          </p:cNvSpPr>
          <p:nvPr/>
        </p:nvSpPr>
        <p:spPr>
          <a:xfrm xmlns:a="http://schemas.openxmlformats.org/drawingml/2006/main">
            <a:off x="1562100" y="56959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1">
                <a:solidFill>
                  <a:srgbClr val="102A43"/>
                </a:solidFill>
                <a:latin typeface="DejaVu Sans"/>
                <a:ea typeface="DejaVu Sans"/>
                <a:cs typeface="DejaVu Sans"/>
              </a:defRPr>
            </a:pPr>
            <a:r>
              <a:rPr sz="774" b="1">
                <a:solidFill>
                  <a:srgbClr val="102A43"/>
                </a:solidFill>
                <a:latin typeface="DejaVu Sans"/>
                <a:ea typeface="DejaVu Sans"/>
                <a:cs typeface="DejaVu Sans"/>
              </a:rPr>
              <a:t>EventBridge</a:t>
            </a:r>
          </a:p>
        </p:txBody>
      </p:sp>
      <p:sp>
        <p:nvSpPr>
          <p:cNvPr id="52" name="">
            <a:extLst xmlns:a="http://schemas.openxmlformats.org/drawingml/2006/main">
              <a:ext uri="{FF2B5EF4-FFF2-40B4-BE49-F238E27FC236}">
                <a16:creationId xmlns:a16="http://schemas.microsoft.com/office/drawing/2014/main" id="{A5931EB0-B68B-471D-A48C-301DCDE21C64}"/>
              </a:ext>
            </a:extLst>
          </p:cNvPr>
          <p:cNvSpPr>
            <a:spLocks xmlns:a="http://schemas.openxmlformats.org/drawingml/2006/main" noGrp="1"/>
          </p:cNvSpPr>
          <p:nvPr/>
        </p:nvSpPr>
        <p:spPr>
          <a:xfrm xmlns:a="http://schemas.openxmlformats.org/drawingml/2006/main">
            <a:off x="1524000" y="5905500"/>
            <a:ext cx="1123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675" b="0">
                <a:solidFill>
                  <a:srgbClr val="586E82"/>
                </a:solidFill>
                <a:latin typeface="DejaVu Sans"/>
                <a:ea typeface="DejaVu Sans"/>
                <a:cs typeface="DejaVu Sans"/>
              </a:defRPr>
            </a:pPr>
            <a:r>
              <a:rPr sz="675" b="0">
                <a:solidFill>
                  <a:srgbClr val="586E82"/>
                </a:solidFill>
                <a:latin typeface="DejaVu Sans"/>
                <a:ea typeface="DejaVu Sans"/>
                <a:cs typeface="DejaVu Sans"/>
              </a:rPr>
              <a:t>Daily schedule</a:t>
            </a:r>
          </a:p>
        </p:txBody>
      </p:sp>
      <p:sp>
        <p:nvSpPr>
          <p:cNvPr id="53" name="">
            <a:extLst xmlns:a="http://schemas.openxmlformats.org/drawingml/2006/main">
              <a:ext uri="{FF2B5EF4-FFF2-40B4-BE49-F238E27FC236}">
                <a16:creationId xmlns:a16="http://schemas.microsoft.com/office/drawing/2014/main" id="{D29BDAEE-0038-4018-8C81-66670433870A}"/>
              </a:ext>
            </a:extLst>
          </p:cNvPr>
          <p:cNvSpPr>
            <a:spLocks xmlns:a="http://schemas.openxmlformats.org/drawingml/2006/main" noGrp="1"/>
          </p:cNvSpPr>
          <p:nvPr/>
        </p:nvSpPr>
        <p:spPr>
          <a:xfrm xmlns:a="http://schemas.openxmlformats.org/drawingml/2006/main">
            <a:off x="2628900" y="5391150"/>
            <a:ext cx="457200" cy="133350"/>
          </a:xfrm>
          <a:prstGeom xmlns:a="http://schemas.openxmlformats.org/drawingml/2006/main" prst="rightArrow">
            <a:avLst/>
          </a:prstGeom>
          <a:solidFill xmlns:a="http://schemas.openxmlformats.org/drawingml/2006/main">
            <a:srgbClr val="647F95"/>
          </a:solidFill>
          <a:ln xmlns:a="http://schemas.openxmlformats.org/drawingml/2006/main" w="0">
            <a:solidFill>
              <a:srgbClr val="647F95"/>
            </a:solidFill>
            <a:prstDash val="solid"/>
          </a:ln>
        </p:spPr>
      </p:sp>
      <p:sp>
        <p:nvSpPr>
          <p:cNvPr id="54" name="">
            <a:extLst xmlns:a="http://schemas.openxmlformats.org/drawingml/2006/main">
              <a:ext uri="{FF2B5EF4-FFF2-40B4-BE49-F238E27FC236}">
                <a16:creationId xmlns:a16="http://schemas.microsoft.com/office/drawing/2014/main" id="{7424CD77-8483-4BCF-A9C3-FADA22888293}"/>
              </a:ext>
            </a:extLst>
          </p:cNvPr>
          <p:cNvSpPr>
            <a:spLocks xmlns:a="http://schemas.openxmlformats.org/drawingml/2006/main" noGrp="1"/>
          </p:cNvSpPr>
          <p:nvPr/>
        </p:nvSpPr>
        <p:spPr>
          <a:xfrm xmlns:a="http://schemas.openxmlformats.org/drawingml/2006/main">
            <a:off x="2590800" y="51816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27" b="0">
                <a:solidFill>
                  <a:srgbClr val="586E82"/>
                </a:solidFill>
                <a:latin typeface="DejaVu Sans"/>
                <a:ea typeface="DejaVu Sans"/>
                <a:cs typeface="DejaVu Sans"/>
              </a:defRPr>
            </a:pPr>
            <a:r>
              <a:rPr sz="527" b="0">
                <a:solidFill>
                  <a:srgbClr val="586E82"/>
                </a:solidFill>
                <a:latin typeface="DejaVu Sans"/>
                <a:ea typeface="DejaVu Sans"/>
                <a:cs typeface="DejaVu Sans"/>
              </a:rPr>
              <a:t>Trigger</a:t>
            </a:r>
          </a:p>
        </p:txBody>
      </p:sp>
      <p:pic>
        <p:nvPicPr>
          <p:cNvPr id="139" name=""/>
          <p:cNvPicPr>
            <a:picLocks xmlns:a="http://schemas.openxmlformats.org/drawingml/2006/main" noChangeAspect="1"/>
          </p:cNvPicPr>
          <p:nvPr/>
        </p:nvPicPr>
        <p:blipFill>
          <a:blip xmlns:r="http://schemas.openxmlformats.org/officeDocument/2006/relationships" xmlns:a="http://schemas.openxmlformats.org/drawingml/2006/main" r:embed="R382baf0323c64a87"/>
          <a:stretch xmlns:a="http://schemas.openxmlformats.org/drawingml/2006/main"/>
        </p:blipFill>
        <p:spPr>
          <a:xfrm xmlns:a="http://schemas.openxmlformats.org/drawingml/2006/main">
            <a:off x="3486150" y="5238750"/>
            <a:ext cx="438150" cy="438150"/>
          </a:xfrm>
          <a:prstGeom xmlns:a="http://schemas.openxmlformats.org/drawingml/2006/main" prst="rect">
            <a:avLst/>
          </a:prstGeom>
        </p:spPr>
      </p:pic>
      <p:sp>
        <p:nvSpPr>
          <p:cNvPr id="56" name="">
            <a:extLst xmlns:a="http://schemas.openxmlformats.org/drawingml/2006/main">
              <a:ext uri="{FF2B5EF4-FFF2-40B4-BE49-F238E27FC236}">
                <a16:creationId xmlns:a16="http://schemas.microsoft.com/office/drawing/2014/main" id="{E10E4535-4F26-4562-BFE8-6683384D6765}"/>
              </a:ext>
            </a:extLst>
          </p:cNvPr>
          <p:cNvSpPr>
            <a:spLocks xmlns:a="http://schemas.openxmlformats.org/drawingml/2006/main" noGrp="1"/>
          </p:cNvSpPr>
          <p:nvPr/>
        </p:nvSpPr>
        <p:spPr>
          <a:xfrm xmlns:a="http://schemas.openxmlformats.org/drawingml/2006/main">
            <a:off x="3105150" y="569595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65" b="1">
                <a:solidFill>
                  <a:srgbClr val="102A43"/>
                </a:solidFill>
                <a:latin typeface="DejaVu Sans"/>
                <a:ea typeface="DejaVu Sans"/>
                <a:cs typeface="DejaVu Sans"/>
              </a:defRPr>
            </a:pPr>
            <a:r>
              <a:rPr sz="765" b="1">
                <a:solidFill>
                  <a:srgbClr val="102A43"/>
                </a:solidFill>
                <a:latin typeface="DejaVu Sans"/>
                <a:ea typeface="DejaVu Sans"/>
                <a:cs typeface="DejaVu Sans"/>
              </a:rPr>
              <a:t>Scheduler Lambda</a:t>
            </a:r>
          </a:p>
        </p:txBody>
      </p:sp>
      <p:sp>
        <p:nvSpPr>
          <p:cNvPr id="57" name="">
            <a:extLst xmlns:a="http://schemas.openxmlformats.org/drawingml/2006/main">
              <a:ext uri="{FF2B5EF4-FFF2-40B4-BE49-F238E27FC236}">
                <a16:creationId xmlns:a16="http://schemas.microsoft.com/office/drawing/2014/main" id="{B81AFCD4-B102-4D39-BC73-9A4ABF715382}"/>
              </a:ext>
            </a:extLst>
          </p:cNvPr>
          <p:cNvSpPr>
            <a:spLocks xmlns:a="http://schemas.openxmlformats.org/drawingml/2006/main" noGrp="1"/>
          </p:cNvSpPr>
          <p:nvPr/>
        </p:nvSpPr>
        <p:spPr>
          <a:xfrm xmlns:a="http://schemas.openxmlformats.org/drawingml/2006/main">
            <a:off x="3067050" y="5905500"/>
            <a:ext cx="12763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675" b="0">
                <a:solidFill>
                  <a:srgbClr val="586E82"/>
                </a:solidFill>
                <a:latin typeface="DejaVu Sans"/>
                <a:ea typeface="DejaVu Sans"/>
                <a:cs typeface="DejaVu Sans"/>
              </a:defRPr>
            </a:pPr>
            <a:r>
              <a:rPr sz="675" b="0">
                <a:solidFill>
                  <a:srgbClr val="586E82"/>
                </a:solidFill>
                <a:latin typeface="DejaVu Sans"/>
                <a:ea typeface="DejaVu Sans"/>
                <a:cs typeface="DejaVu Sans"/>
              </a:rPr>
              <a:t>Checks due dates</a:t>
            </a:r>
          </a:p>
        </p:txBody>
      </p:sp>
      <p:sp>
        <p:nvSpPr>
          <p:cNvPr id="58" name="">
            <a:extLst xmlns:a="http://schemas.openxmlformats.org/drawingml/2006/main">
              <a:ext uri="{FF2B5EF4-FFF2-40B4-BE49-F238E27FC236}">
                <a16:creationId xmlns:a16="http://schemas.microsoft.com/office/drawing/2014/main" id="{7EEA72AC-533B-4B60-B76C-DF4FA410243C}"/>
              </a:ext>
            </a:extLst>
          </p:cNvPr>
          <p:cNvSpPr>
            <a:spLocks xmlns:a="http://schemas.openxmlformats.org/drawingml/2006/main" noGrp="1"/>
          </p:cNvSpPr>
          <p:nvPr/>
        </p:nvSpPr>
        <p:spPr>
          <a:xfrm xmlns:a="http://schemas.openxmlformats.org/drawingml/2006/main">
            <a:off x="4324350" y="5391150"/>
            <a:ext cx="3143250" cy="133350"/>
          </a:xfrm>
          <a:prstGeom xmlns:a="http://schemas.openxmlformats.org/drawingml/2006/main" prst="rightArrow">
            <a:avLst/>
          </a:prstGeom>
          <a:solidFill xmlns:a="http://schemas.openxmlformats.org/drawingml/2006/main">
            <a:srgbClr val="647F95"/>
          </a:solidFill>
          <a:ln xmlns:a="http://schemas.openxmlformats.org/drawingml/2006/main" w="0">
            <a:solidFill>
              <a:srgbClr val="647F95"/>
            </a:solidFill>
            <a:prstDash val="solid"/>
          </a:ln>
        </p:spPr>
      </p:sp>
      <p:sp>
        <p:nvSpPr>
          <p:cNvPr id="59" name="">
            <a:extLst xmlns:a="http://schemas.openxmlformats.org/drawingml/2006/main">
              <a:ext uri="{FF2B5EF4-FFF2-40B4-BE49-F238E27FC236}">
                <a16:creationId xmlns:a16="http://schemas.microsoft.com/office/drawing/2014/main" id="{DFA8F805-F6C1-4415-B791-526AA008896C}"/>
              </a:ext>
            </a:extLst>
          </p:cNvPr>
          <p:cNvSpPr>
            <a:spLocks xmlns:a="http://schemas.openxmlformats.org/drawingml/2006/main" noGrp="1"/>
          </p:cNvSpPr>
          <p:nvPr/>
        </p:nvSpPr>
        <p:spPr>
          <a:xfrm xmlns:a="http://schemas.openxmlformats.org/drawingml/2006/main">
            <a:off x="4286250" y="5181600"/>
            <a:ext cx="3219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27" b="0">
                <a:solidFill>
                  <a:srgbClr val="586E82"/>
                </a:solidFill>
                <a:latin typeface="DejaVu Sans"/>
                <a:ea typeface="DejaVu Sans"/>
                <a:cs typeface="DejaVu Sans"/>
              </a:defRPr>
            </a:pPr>
            <a:r>
              <a:rPr sz="527" b="0">
                <a:solidFill>
                  <a:srgbClr val="586E82"/>
                </a:solidFill>
                <a:latin typeface="DejaVu Sans"/>
                <a:ea typeface="DejaVu Sans"/>
                <a:cs typeface="DejaVu Sans"/>
              </a:rPr>
              <a:t>Publish maintenance summary</a:t>
            </a:r>
          </a:p>
        </p:txBody>
      </p:sp>
      <p:pic>
        <p:nvPicPr>
          <p:cNvPr id="144" name=""/>
          <p:cNvPicPr>
            <a:picLocks xmlns:a="http://schemas.openxmlformats.org/drawingml/2006/main" noChangeAspect="1"/>
          </p:cNvPicPr>
          <p:nvPr/>
        </p:nvPicPr>
        <p:blipFill>
          <a:blip xmlns:r="http://schemas.openxmlformats.org/officeDocument/2006/relationships" xmlns:a="http://schemas.openxmlformats.org/drawingml/2006/main" r:embed="Ra7334636912b4d7d"/>
          <a:stretch xmlns:a="http://schemas.openxmlformats.org/drawingml/2006/main"/>
        </p:blipFill>
        <p:spPr>
          <a:xfrm xmlns:a="http://schemas.openxmlformats.org/drawingml/2006/main">
            <a:off x="7820025" y="5238750"/>
            <a:ext cx="438150" cy="438150"/>
          </a:xfrm>
          <a:prstGeom xmlns:a="http://schemas.openxmlformats.org/drawingml/2006/main" prst="rect">
            <a:avLst/>
          </a:prstGeom>
        </p:spPr>
      </p:pic>
      <p:sp>
        <p:nvSpPr>
          <p:cNvPr id="61" name="">
            <a:extLst xmlns:a="http://schemas.openxmlformats.org/drawingml/2006/main">
              <a:ext uri="{FF2B5EF4-FFF2-40B4-BE49-F238E27FC236}">
                <a16:creationId xmlns:a16="http://schemas.microsoft.com/office/drawing/2014/main" id="{9EC6E811-44DB-4FDC-BBD2-2819DF43B8F0}"/>
              </a:ext>
            </a:extLst>
          </p:cNvPr>
          <p:cNvSpPr>
            <a:spLocks xmlns:a="http://schemas.openxmlformats.org/drawingml/2006/main" noGrp="1"/>
          </p:cNvSpPr>
          <p:nvPr/>
        </p:nvSpPr>
        <p:spPr>
          <a:xfrm xmlns:a="http://schemas.openxmlformats.org/drawingml/2006/main">
            <a:off x="7486650" y="569595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1">
                <a:solidFill>
                  <a:srgbClr val="102A43"/>
                </a:solidFill>
                <a:latin typeface="DejaVu Sans"/>
                <a:ea typeface="DejaVu Sans"/>
                <a:cs typeface="DejaVu Sans"/>
              </a:defRPr>
            </a:pPr>
            <a:r>
              <a:rPr sz="774" b="1">
                <a:solidFill>
                  <a:srgbClr val="102A43"/>
                </a:solidFill>
                <a:latin typeface="DejaVu Sans"/>
                <a:ea typeface="DejaVu Sans"/>
                <a:cs typeface="DejaVu Sans"/>
              </a:rPr>
              <a:t>Amazon SNS</a:t>
            </a:r>
          </a:p>
        </p:txBody>
      </p:sp>
      <p:sp>
        <p:nvSpPr>
          <p:cNvPr id="62" name="">
            <a:extLst xmlns:a="http://schemas.openxmlformats.org/drawingml/2006/main">
              <a:ext uri="{FF2B5EF4-FFF2-40B4-BE49-F238E27FC236}">
                <a16:creationId xmlns:a16="http://schemas.microsoft.com/office/drawing/2014/main" id="{413722E3-8603-4138-8CE8-93137172DA54}"/>
              </a:ext>
            </a:extLst>
          </p:cNvPr>
          <p:cNvSpPr>
            <a:spLocks xmlns:a="http://schemas.openxmlformats.org/drawingml/2006/main" noGrp="1"/>
          </p:cNvSpPr>
          <p:nvPr/>
        </p:nvSpPr>
        <p:spPr>
          <a:xfrm xmlns:a="http://schemas.openxmlformats.org/drawingml/2006/main">
            <a:off x="7448550" y="5905500"/>
            <a:ext cx="1181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675" b="0">
                <a:solidFill>
                  <a:srgbClr val="586E82"/>
                </a:solidFill>
                <a:latin typeface="DejaVu Sans"/>
                <a:ea typeface="DejaVu Sans"/>
                <a:cs typeface="DejaVu Sans"/>
              </a:defRPr>
            </a:pPr>
            <a:r>
              <a:rPr sz="675" b="0">
                <a:solidFill>
                  <a:srgbClr val="586E82"/>
                </a:solidFill>
                <a:latin typeface="DejaVu Sans"/>
                <a:ea typeface="DejaVu Sans"/>
                <a:cs typeface="DejaVu Sans"/>
              </a:rPr>
              <a:t>Email notification</a:t>
            </a:r>
          </a:p>
        </p:txBody>
      </p:sp>
      <p:sp>
        <p:nvSpPr>
          <p:cNvPr id="63" name="">
            <a:extLst xmlns:a="http://schemas.openxmlformats.org/drawingml/2006/main">
              <a:ext uri="{FF2B5EF4-FFF2-40B4-BE49-F238E27FC236}">
                <a16:creationId xmlns:a16="http://schemas.microsoft.com/office/drawing/2014/main" id="{097B5BBC-B8C1-4082-B94A-E211D340D743}"/>
              </a:ext>
            </a:extLst>
          </p:cNvPr>
          <p:cNvSpPr>
            <a:spLocks xmlns:a="http://schemas.openxmlformats.org/drawingml/2006/main" noGrp="1"/>
          </p:cNvSpPr>
          <p:nvPr/>
        </p:nvSpPr>
        <p:spPr>
          <a:xfrm xmlns:a="http://schemas.openxmlformats.org/drawingml/2006/main">
            <a:off x="3695700" y="4857750"/>
            <a:ext cx="19050" cy="381000"/>
          </a:xfrm>
          <a:prstGeom xmlns:a="http://schemas.openxmlformats.org/drawingml/2006/main" prst="rect">
            <a:avLst/>
          </a:prstGeom>
          <a:solidFill xmlns:a="http://schemas.openxmlformats.org/drawingml/2006/main">
            <a:srgbClr val="647F95"/>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148B70D5-A98A-4608-8360-190367A4301D}"/>
              </a:ext>
            </a:extLst>
          </p:cNvPr>
          <p:cNvSpPr>
            <a:spLocks xmlns:a="http://schemas.openxmlformats.org/drawingml/2006/main" noGrp="1"/>
          </p:cNvSpPr>
          <p:nvPr/>
        </p:nvSpPr>
        <p:spPr>
          <a:xfrm xmlns:a="http://schemas.openxmlformats.org/drawingml/2006/main">
            <a:off x="3695700" y="4838700"/>
            <a:ext cx="1590675" cy="19050"/>
          </a:xfrm>
          <a:prstGeom xmlns:a="http://schemas.openxmlformats.org/drawingml/2006/main" prst="rect">
            <a:avLst/>
          </a:prstGeom>
          <a:solidFill xmlns:a="http://schemas.openxmlformats.org/drawingml/2006/main">
            <a:srgbClr val="647F95"/>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0BBECFDD-4B4B-4EED-B22C-FA86CD275649}"/>
              </a:ext>
            </a:extLst>
          </p:cNvPr>
          <p:cNvSpPr>
            <a:spLocks xmlns:a="http://schemas.openxmlformats.org/drawingml/2006/main" noGrp="1"/>
          </p:cNvSpPr>
          <p:nvPr/>
        </p:nvSpPr>
        <p:spPr>
          <a:xfrm xmlns:a="http://schemas.openxmlformats.org/drawingml/2006/main">
            <a:off x="5219700" y="4686300"/>
            <a:ext cx="133350" cy="171450"/>
          </a:xfrm>
          <a:prstGeom xmlns:a="http://schemas.openxmlformats.org/drawingml/2006/main" prst="upArrow">
            <a:avLst/>
          </a:prstGeom>
          <a:solidFill xmlns:a="http://schemas.openxmlformats.org/drawingml/2006/main">
            <a:srgbClr val="647F95"/>
          </a:solidFill>
          <a:ln xmlns:a="http://schemas.openxmlformats.org/drawingml/2006/main" w="0">
            <a:solidFill>
              <a:srgbClr val="647F95"/>
            </a:solidFill>
            <a:prstDash val="solid"/>
          </a:ln>
        </p:spPr>
      </p:sp>
      <p:sp>
        <p:nvSpPr>
          <p:cNvPr id="66" name="">
            <a:extLst xmlns:a="http://schemas.openxmlformats.org/drawingml/2006/main">
              <a:ext uri="{FF2B5EF4-FFF2-40B4-BE49-F238E27FC236}">
                <a16:creationId xmlns:a16="http://schemas.microsoft.com/office/drawing/2014/main" id="{968A2F25-37DF-4FF0-A44F-8A86EE1DF379}"/>
              </a:ext>
            </a:extLst>
          </p:cNvPr>
          <p:cNvSpPr>
            <a:spLocks xmlns:a="http://schemas.openxmlformats.org/drawingml/2006/main" noGrp="1"/>
          </p:cNvSpPr>
          <p:nvPr/>
        </p:nvSpPr>
        <p:spPr>
          <a:xfrm xmlns:a="http://schemas.openxmlformats.org/drawingml/2006/main">
            <a:off x="3886200" y="4629150"/>
            <a:ext cx="1257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27" b="0">
                <a:solidFill>
                  <a:srgbClr val="586E82"/>
                </a:solidFill>
                <a:latin typeface="DejaVu Sans"/>
                <a:ea typeface="DejaVu Sans"/>
                <a:cs typeface="DejaVu Sans"/>
              </a:defRPr>
            </a:pPr>
            <a:r>
              <a:rPr sz="527" b="0">
                <a:solidFill>
                  <a:srgbClr val="586E82"/>
                </a:solidFill>
                <a:latin typeface="DejaVu Sans"/>
                <a:ea typeface="DejaVu Sans"/>
                <a:cs typeface="DejaVu Sans"/>
              </a:rPr>
              <a:t>Query asset history</a:t>
            </a:r>
          </a:p>
        </p:txBody>
      </p:sp>
      <p:sp>
        <p:nvSpPr>
          <p:cNvPr id="67" name="">
            <a:extLst xmlns:a="http://schemas.openxmlformats.org/drawingml/2006/main">
              <a:ext uri="{FF2B5EF4-FFF2-40B4-BE49-F238E27FC236}">
                <a16:creationId xmlns:a16="http://schemas.microsoft.com/office/drawing/2014/main" id="{88307182-D13C-4A14-8572-D500C151CAEE}"/>
              </a:ext>
            </a:extLst>
          </p:cNvPr>
          <p:cNvSpPr>
            <a:spLocks xmlns:a="http://schemas.openxmlformats.org/drawingml/2006/main" noGrp="1"/>
          </p:cNvSpPr>
          <p:nvPr/>
        </p:nvSpPr>
        <p:spPr>
          <a:xfrm xmlns:a="http://schemas.openxmlformats.org/drawingml/2006/main">
            <a:off x="8610600" y="5391150"/>
            <a:ext cx="2381250" cy="133350"/>
          </a:xfrm>
          <a:prstGeom xmlns:a="http://schemas.openxmlformats.org/drawingml/2006/main" prst="rightArrow">
            <a:avLst/>
          </a:prstGeom>
          <a:solidFill xmlns:a="http://schemas.openxmlformats.org/drawingml/2006/main">
            <a:srgbClr val="647F95"/>
          </a:solidFill>
          <a:ln xmlns:a="http://schemas.openxmlformats.org/drawingml/2006/main" w="0">
            <a:solidFill>
              <a:srgbClr val="647F95"/>
            </a:solidFill>
            <a:prstDash val="solid"/>
          </a:ln>
        </p:spPr>
      </p:sp>
      <p:sp>
        <p:nvSpPr>
          <p:cNvPr id="68" name="">
            <a:extLst xmlns:a="http://schemas.openxmlformats.org/drawingml/2006/main">
              <a:ext uri="{FF2B5EF4-FFF2-40B4-BE49-F238E27FC236}">
                <a16:creationId xmlns:a16="http://schemas.microsoft.com/office/drawing/2014/main" id="{082EE796-9704-44A8-8CE1-696CC8AD5E6B}"/>
              </a:ext>
            </a:extLst>
          </p:cNvPr>
          <p:cNvSpPr>
            <a:spLocks xmlns:a="http://schemas.openxmlformats.org/drawingml/2006/main" noGrp="1"/>
          </p:cNvSpPr>
          <p:nvPr/>
        </p:nvSpPr>
        <p:spPr>
          <a:xfrm xmlns:a="http://schemas.openxmlformats.org/drawingml/2006/main">
            <a:off x="8572500" y="5181600"/>
            <a:ext cx="2457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27" b="0">
                <a:solidFill>
                  <a:srgbClr val="586E82"/>
                </a:solidFill>
                <a:latin typeface="DejaVu Sans"/>
                <a:ea typeface="DejaVu Sans"/>
                <a:cs typeface="DejaVu Sans"/>
              </a:defRPr>
            </a:pPr>
            <a:r>
              <a:rPr sz="527" b="0">
                <a:solidFill>
                  <a:srgbClr val="586E82"/>
                </a:solidFill>
                <a:latin typeface="DejaVu Sans"/>
                <a:ea typeface="DejaVu Sans"/>
                <a:cs typeface="DejaVu Sans"/>
              </a:rPr>
              <a:t>Notification email</a:t>
            </a:r>
          </a:p>
        </p:txBody>
      </p:sp>
      <p:sp>
        <p:nvSpPr>
          <p:cNvPr id="69" name="">
            <a:extLst xmlns:a="http://schemas.openxmlformats.org/drawingml/2006/main">
              <a:ext uri="{FF2B5EF4-FFF2-40B4-BE49-F238E27FC236}">
                <a16:creationId xmlns:a16="http://schemas.microsoft.com/office/drawing/2014/main" id="{02650298-D1F2-4822-BC08-C772EC840722}"/>
              </a:ext>
            </a:extLst>
          </p:cNvPr>
          <p:cNvSpPr>
            <a:spLocks xmlns:a="http://schemas.openxmlformats.org/drawingml/2006/main" noGrp="1"/>
          </p:cNvSpPr>
          <p:nvPr/>
        </p:nvSpPr>
        <p:spPr>
          <a:xfrm xmlns:a="http://schemas.openxmlformats.org/drawingml/2006/main">
            <a:off x="11144250" y="5095875"/>
            <a:ext cx="819150" cy="742950"/>
          </a:xfrm>
          <a:prstGeom xmlns:a="http://schemas.openxmlformats.org/drawingml/2006/main" prst="roundRect">
            <a:avLst>
              <a:gd name="adj" fmla="val 12821"/>
            </a:avLst>
          </a:prstGeom>
          <a:solidFill xmlns:a="http://schemas.openxmlformats.org/drawingml/2006/main">
            <a:srgbClr val="F5F8FB"/>
          </a:solidFill>
          <a:ln xmlns:a="http://schemas.openxmlformats.org/drawingml/2006/main" w="19050">
            <a:solidFill>
              <a:srgbClr val="102A43"/>
            </a:solidFill>
            <a:prstDash val="solid"/>
          </a:ln>
        </p:spPr>
      </p:sp>
      <p:sp>
        <p:nvSpPr>
          <p:cNvPr id="70" name="">
            <a:extLst xmlns:a="http://schemas.openxmlformats.org/drawingml/2006/main">
              <a:ext uri="{FF2B5EF4-FFF2-40B4-BE49-F238E27FC236}">
                <a16:creationId xmlns:a16="http://schemas.microsoft.com/office/drawing/2014/main" id="{8514933A-3CD4-47A1-A8B6-4431EAF117E4}"/>
              </a:ext>
            </a:extLst>
          </p:cNvPr>
          <p:cNvSpPr>
            <a:spLocks xmlns:a="http://schemas.openxmlformats.org/drawingml/2006/main" noGrp="1"/>
          </p:cNvSpPr>
          <p:nvPr/>
        </p:nvSpPr>
        <p:spPr>
          <a:xfrm xmlns:a="http://schemas.openxmlformats.org/drawingml/2006/main">
            <a:off x="11344275" y="513397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785" b="0">
                <a:solidFill>
                  <a:srgbClr val="102A43"/>
                </a:solidFill>
                <a:latin typeface="DejaVu Sans"/>
                <a:ea typeface="DejaVu Sans"/>
                <a:cs typeface="DejaVu Sans"/>
              </a:defRPr>
            </a:pPr>
            <a:r>
              <a:rPr sz="1785" b="0">
                <a:solidFill>
                  <a:srgbClr val="102A43"/>
                </a:solidFill>
                <a:latin typeface="DejaVu Sans"/>
                <a:ea typeface="DejaVu Sans"/>
                <a:cs typeface="DejaVu Sans"/>
              </a:rPr>
              <a:t>✉</a:t>
            </a:r>
          </a:p>
        </p:txBody>
      </p:sp>
      <p:sp>
        <p:nvSpPr>
          <p:cNvPr id="71" name="">
            <a:extLst xmlns:a="http://schemas.openxmlformats.org/drawingml/2006/main">
              <a:ext uri="{FF2B5EF4-FFF2-40B4-BE49-F238E27FC236}">
                <a16:creationId xmlns:a16="http://schemas.microsoft.com/office/drawing/2014/main" id="{901FD9F6-BF95-406C-B47E-29F46F9D770E}"/>
              </a:ext>
            </a:extLst>
          </p:cNvPr>
          <p:cNvSpPr>
            <a:spLocks xmlns:a="http://schemas.openxmlformats.org/drawingml/2006/main" noGrp="1"/>
          </p:cNvSpPr>
          <p:nvPr/>
        </p:nvSpPr>
        <p:spPr>
          <a:xfrm xmlns:a="http://schemas.openxmlformats.org/drawingml/2006/main">
            <a:off x="11191875" y="5514975"/>
            <a:ext cx="723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446" b="1">
                <a:solidFill>
                  <a:srgbClr val="102A43"/>
                </a:solidFill>
                <a:latin typeface="DejaVu Sans"/>
                <a:ea typeface="DejaVu Sans"/>
                <a:cs typeface="DejaVu Sans"/>
              </a:defRPr>
            </a:pPr>
            <a:r>
              <a:rPr sz="446" b="1">
                <a:solidFill>
                  <a:srgbClr val="102A43"/>
                </a:solidFill>
                <a:latin typeface="DejaVu Sans"/>
                <a:ea typeface="DejaVu Sans"/>
                <a:cs typeface="DejaVu Sans"/>
              </a:rPr>
              <a:t>Operations email</a:t>
            </a:r>
          </a:p>
        </p:txBody>
      </p:sp>
      <p:sp>
        <p:nvSpPr>
          <p:cNvPr id="72" name="">
            <a:extLst xmlns:a="http://schemas.openxmlformats.org/drawingml/2006/main">
              <a:ext uri="{FF2B5EF4-FFF2-40B4-BE49-F238E27FC236}">
                <a16:creationId xmlns:a16="http://schemas.microsoft.com/office/drawing/2014/main" id="{2C471C21-25FA-4AAB-8AA8-84CD213CD80E}"/>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AWS Smart Asset Lifecycle Tracker  |  Week 4</a:t>
            </a:r>
          </a:p>
        </p:txBody>
      </p:sp>
      <p:sp>
        <p:nvSpPr>
          <p:cNvPr id="73" name="">
            <a:extLst xmlns:a="http://schemas.openxmlformats.org/drawingml/2006/main">
              <a:ext uri="{FF2B5EF4-FFF2-40B4-BE49-F238E27FC236}">
                <a16:creationId xmlns:a16="http://schemas.microsoft.com/office/drawing/2014/main" id="{3197459D-9AF3-47FD-B6B9-A6267D887D69}"/>
              </a:ext>
            </a:extLst>
          </p:cNvPr>
          <p:cNvSpPr>
            <a:spLocks xmlns:a="http://schemas.openxmlformats.org/drawingml/2006/main" noGrp="1"/>
          </p:cNvSpPr>
          <p:nvPr/>
        </p:nvSpPr>
        <p:spPr>
          <a:xfrm xmlns:a="http://schemas.openxmlformats.org/drawingml/2006/main">
            <a:off x="108394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04</a:t>
            </a:r>
          </a:p>
        </p:txBody>
      </p:sp>
    </p:spTree>
    <p:extLst>
      <p:ext uri="{BB962C8B-B14F-4D97-AF65-F5344CB8AC3E}">
        <p14:creationId xmlns:p14="http://schemas.microsoft.com/office/powerpoint/2010/main" val="3551910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62E6CFC-9D76-4816-B3FC-980BA819AC1F}"/>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550" b="1">
                <a:solidFill>
                  <a:srgbClr val="102A43"/>
                </a:solidFill>
                <a:latin typeface="DejaVu Serif"/>
                <a:ea typeface="DejaVu Serif"/>
                <a:cs typeface="DejaVu Serif"/>
              </a:defRPr>
            </a:pPr>
            <a:r>
              <a:rPr sz="2550" b="1">
                <a:solidFill>
                  <a:srgbClr val="102A43"/>
                </a:solidFill>
                <a:latin typeface="DejaVu Serif"/>
                <a:ea typeface="DejaVu Serif"/>
                <a:cs typeface="DejaVu Serif"/>
              </a:rPr>
              <a:t>Security and user roles</a:t>
            </a:r>
          </a:p>
        </p:txBody>
      </p:sp>
      <p:sp>
        <p:nvSpPr>
          <p:cNvPr id="2" name="">
            <a:extLst xmlns:a="http://schemas.openxmlformats.org/drawingml/2006/main">
              <a:ext uri="{FF2B5EF4-FFF2-40B4-BE49-F238E27FC236}">
                <a16:creationId xmlns:a16="http://schemas.microsoft.com/office/drawing/2014/main" id="{72C97721-C496-42FC-8AAB-97DA20165E08}"/>
              </a:ext>
            </a:extLst>
          </p:cNvPr>
          <p:cNvSpPr>
            <a:spLocks xmlns:a="http://schemas.openxmlformats.org/drawingml/2006/main" noGrp="1"/>
          </p:cNvSpPr>
          <p:nvPr/>
        </p:nvSpPr>
        <p:spPr>
          <a:xfrm xmlns:a="http://schemas.openxmlformats.org/drawingml/2006/main">
            <a:off x="704850" y="9525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Backend authorization protects records, financial information and private photographs</a:t>
            </a:r>
          </a:p>
        </p:txBody>
      </p:sp>
      <p:sp>
        <p:nvSpPr>
          <p:cNvPr id="3" name="">
            <a:extLst xmlns:a="http://schemas.openxmlformats.org/drawingml/2006/main">
              <a:ext uri="{FF2B5EF4-FFF2-40B4-BE49-F238E27FC236}">
                <a16:creationId xmlns:a16="http://schemas.microsoft.com/office/drawing/2014/main" id="{E81242A3-1747-4EE6-AFBB-7190C904DE40}"/>
              </a:ext>
            </a:extLst>
          </p:cNvPr>
          <p:cNvSpPr>
            <a:spLocks xmlns:a="http://schemas.openxmlformats.org/drawingml/2006/main" noGrp="1"/>
          </p:cNvSpPr>
          <p:nvPr/>
        </p:nvSpPr>
        <p:spPr>
          <a:xfrm xmlns:a="http://schemas.openxmlformats.org/drawingml/2006/main">
            <a:off x="685800" y="1314450"/>
            <a:ext cx="10820400" cy="28575"/>
          </a:xfrm>
          <a:prstGeom xmlns:a="http://schemas.openxmlformats.org/drawingml/2006/main" prst="rect">
            <a:avLst/>
          </a:prstGeom>
          <a:solidFill xmlns:a="http://schemas.openxmlformats.org/drawingml/2006/main">
            <a:srgbClr val="146C9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0731CD2-DF2E-48D9-83E6-9F6BA35DFCB2}"/>
              </a:ext>
            </a:extLst>
          </p:cNvPr>
          <p:cNvSpPr>
            <a:spLocks xmlns:a="http://schemas.openxmlformats.org/drawingml/2006/main" noGrp="1"/>
          </p:cNvSpPr>
          <p:nvPr/>
        </p:nvSpPr>
        <p:spPr>
          <a:xfrm xmlns:a="http://schemas.openxmlformats.org/drawingml/2006/main">
            <a:off x="800100" y="1743075"/>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BFADE2C-7C62-4F02-BD82-C2DED6F008F1}"/>
              </a:ext>
            </a:extLst>
          </p:cNvPr>
          <p:cNvSpPr>
            <a:spLocks xmlns:a="http://schemas.openxmlformats.org/drawingml/2006/main" noGrp="1"/>
          </p:cNvSpPr>
          <p:nvPr/>
        </p:nvSpPr>
        <p:spPr>
          <a:xfrm xmlns:a="http://schemas.openxmlformats.org/drawingml/2006/main">
            <a:off x="819150" y="16192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Employee and manager</a:t>
            </a:r>
          </a:p>
        </p:txBody>
      </p:sp>
      <p:sp>
        <p:nvSpPr>
          <p:cNvPr id="6" name="">
            <a:extLst xmlns:a="http://schemas.openxmlformats.org/drawingml/2006/main">
              <a:ext uri="{FF2B5EF4-FFF2-40B4-BE49-F238E27FC236}">
                <a16:creationId xmlns:a16="http://schemas.microsoft.com/office/drawing/2014/main" id="{782B8579-3EC3-40A7-B09F-0E0433176F62}"/>
              </a:ext>
            </a:extLst>
          </p:cNvPr>
          <p:cNvSpPr>
            <a:spLocks xmlns:a="http://schemas.openxmlformats.org/drawingml/2006/main" noGrp="1"/>
          </p:cNvSpPr>
          <p:nvPr/>
        </p:nvSpPr>
        <p:spPr>
          <a:xfrm xmlns:a="http://schemas.openxmlformats.org/drawingml/2006/main">
            <a:off x="4000500" y="16383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Employees view assigned assets and report problems. Managers view departmental assets and reports.</a:t>
            </a:r>
          </a:p>
        </p:txBody>
      </p:sp>
      <p:sp>
        <p:nvSpPr>
          <p:cNvPr id="7" name="">
            <a:extLst xmlns:a="http://schemas.openxmlformats.org/drawingml/2006/main">
              <a:ext uri="{FF2B5EF4-FFF2-40B4-BE49-F238E27FC236}">
                <a16:creationId xmlns:a16="http://schemas.microsoft.com/office/drawing/2014/main" id="{04C60AE9-4D51-4E84-9C0E-65ECE3D0BDF4}"/>
              </a:ext>
            </a:extLst>
          </p:cNvPr>
          <p:cNvSpPr>
            <a:spLocks xmlns:a="http://schemas.openxmlformats.org/drawingml/2006/main" noGrp="1"/>
          </p:cNvSpPr>
          <p:nvPr/>
        </p:nvSpPr>
        <p:spPr>
          <a:xfrm xmlns:a="http://schemas.openxmlformats.org/drawingml/2006/main">
            <a:off x="800100" y="2838450"/>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2DE4D3E-B5B5-4691-9BB2-E487356475CB}"/>
              </a:ext>
            </a:extLst>
          </p:cNvPr>
          <p:cNvSpPr>
            <a:spLocks xmlns:a="http://schemas.openxmlformats.org/drawingml/2006/main" noGrp="1"/>
          </p:cNvSpPr>
          <p:nvPr/>
        </p:nvSpPr>
        <p:spPr>
          <a:xfrm xmlns:a="http://schemas.openxmlformats.org/drawingml/2006/main">
            <a:off x="819150" y="24003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Technician</a:t>
            </a:r>
          </a:p>
        </p:txBody>
      </p:sp>
      <p:sp>
        <p:nvSpPr>
          <p:cNvPr id="9" name="">
            <a:extLst xmlns:a="http://schemas.openxmlformats.org/drawingml/2006/main">
              <a:ext uri="{FF2B5EF4-FFF2-40B4-BE49-F238E27FC236}">
                <a16:creationId xmlns:a16="http://schemas.microsoft.com/office/drawing/2014/main" id="{08E1883D-4C55-43D2-906B-498429814BBF}"/>
              </a:ext>
            </a:extLst>
          </p:cNvPr>
          <p:cNvSpPr>
            <a:spLocks xmlns:a="http://schemas.openxmlformats.org/drawingml/2006/main" noGrp="1"/>
          </p:cNvSpPr>
          <p:nvPr/>
        </p:nvSpPr>
        <p:spPr>
          <a:xfrm xmlns:a="http://schemas.openxmlformats.org/drawingml/2006/main">
            <a:off x="4000500" y="24193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Create assets, upload photographs, update condition and record maintenance.</a:t>
            </a:r>
          </a:p>
        </p:txBody>
      </p:sp>
      <p:sp>
        <p:nvSpPr>
          <p:cNvPr id="10" name="">
            <a:extLst xmlns:a="http://schemas.openxmlformats.org/drawingml/2006/main">
              <a:ext uri="{FF2B5EF4-FFF2-40B4-BE49-F238E27FC236}">
                <a16:creationId xmlns:a16="http://schemas.microsoft.com/office/drawing/2014/main" id="{3EF45317-1322-49B0-96AF-838B99EA4E86}"/>
              </a:ext>
            </a:extLst>
          </p:cNvPr>
          <p:cNvSpPr>
            <a:spLocks xmlns:a="http://schemas.openxmlformats.org/drawingml/2006/main" noGrp="1"/>
          </p:cNvSpPr>
          <p:nvPr/>
        </p:nvSpPr>
        <p:spPr>
          <a:xfrm xmlns:a="http://schemas.openxmlformats.org/drawingml/2006/main">
            <a:off x="800100" y="3933825"/>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80A5B36-4F59-4A1D-95A7-531038C62B7B}"/>
              </a:ext>
            </a:extLst>
          </p:cNvPr>
          <p:cNvSpPr>
            <a:spLocks xmlns:a="http://schemas.openxmlformats.org/drawingml/2006/main" noGrp="1"/>
          </p:cNvSpPr>
          <p:nvPr/>
        </p:nvSpPr>
        <p:spPr>
          <a:xfrm xmlns:a="http://schemas.openxmlformats.org/drawingml/2006/main">
            <a:off x="819150" y="31813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Administrator and auditor</a:t>
            </a:r>
          </a:p>
        </p:txBody>
      </p:sp>
      <p:sp>
        <p:nvSpPr>
          <p:cNvPr id="12" name="">
            <a:extLst xmlns:a="http://schemas.openxmlformats.org/drawingml/2006/main">
              <a:ext uri="{FF2B5EF4-FFF2-40B4-BE49-F238E27FC236}">
                <a16:creationId xmlns:a16="http://schemas.microsoft.com/office/drawing/2014/main" id="{310134EA-E558-4C58-8716-8DD82C464982}"/>
              </a:ext>
            </a:extLst>
          </p:cNvPr>
          <p:cNvSpPr>
            <a:spLocks xmlns:a="http://schemas.openxmlformats.org/drawingml/2006/main" noGrp="1"/>
          </p:cNvSpPr>
          <p:nvPr/>
        </p:nvSpPr>
        <p:spPr>
          <a:xfrm xmlns:a="http://schemas.openxmlformats.org/drawingml/2006/main">
            <a:off x="4000500" y="32004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Administrators manage all records and users. Auditors view records and history without modifying them.</a:t>
            </a:r>
          </a:p>
        </p:txBody>
      </p:sp>
      <p:sp>
        <p:nvSpPr>
          <p:cNvPr id="13" name="">
            <a:extLst xmlns:a="http://schemas.openxmlformats.org/drawingml/2006/main">
              <a:ext uri="{FF2B5EF4-FFF2-40B4-BE49-F238E27FC236}">
                <a16:creationId xmlns:a16="http://schemas.microsoft.com/office/drawing/2014/main" id="{D6E63163-F5C8-48D9-8E9E-DE6A2E6645F7}"/>
              </a:ext>
            </a:extLst>
          </p:cNvPr>
          <p:cNvSpPr>
            <a:spLocks xmlns:a="http://schemas.openxmlformats.org/drawingml/2006/main" noGrp="1"/>
          </p:cNvSpPr>
          <p:nvPr/>
        </p:nvSpPr>
        <p:spPr>
          <a:xfrm xmlns:a="http://schemas.openxmlformats.org/drawingml/2006/main">
            <a:off x="800100" y="5029200"/>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D4182F3-84F8-42D9-B343-5FB1EA995C89}"/>
              </a:ext>
            </a:extLst>
          </p:cNvPr>
          <p:cNvSpPr>
            <a:spLocks xmlns:a="http://schemas.openxmlformats.org/drawingml/2006/main" noGrp="1"/>
          </p:cNvSpPr>
          <p:nvPr/>
        </p:nvSpPr>
        <p:spPr>
          <a:xfrm xmlns:a="http://schemas.openxmlformats.org/drawingml/2006/main">
            <a:off x="819150" y="39624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Security controls</a:t>
            </a:r>
          </a:p>
        </p:txBody>
      </p:sp>
      <p:sp>
        <p:nvSpPr>
          <p:cNvPr id="15" name="">
            <a:extLst xmlns:a="http://schemas.openxmlformats.org/drawingml/2006/main">
              <a:ext uri="{FF2B5EF4-FFF2-40B4-BE49-F238E27FC236}">
                <a16:creationId xmlns:a16="http://schemas.microsoft.com/office/drawing/2014/main" id="{F6EE42CC-4EC5-4E35-8871-3C3F2E580F5D}"/>
              </a:ext>
            </a:extLst>
          </p:cNvPr>
          <p:cNvSpPr>
            <a:spLocks xmlns:a="http://schemas.openxmlformats.org/drawingml/2006/main" noGrp="1"/>
          </p:cNvSpPr>
          <p:nvPr/>
        </p:nvSpPr>
        <p:spPr>
          <a:xfrm xmlns:a="http://schemas.openxmlformats.org/drawingml/2006/main">
            <a:off x="4000500" y="39814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Cognito login, protected APIs, backend permission checks, private S3 storage and least-privilege IAM.</a:t>
            </a:r>
          </a:p>
        </p:txBody>
      </p:sp>
      <p:sp>
        <p:nvSpPr>
          <p:cNvPr id="16" name="">
            <a:extLst xmlns:a="http://schemas.openxmlformats.org/drawingml/2006/main">
              <a:ext uri="{FF2B5EF4-FFF2-40B4-BE49-F238E27FC236}">
                <a16:creationId xmlns:a16="http://schemas.microsoft.com/office/drawing/2014/main" id="{8D5F2D94-2512-4E39-8D15-14CE5E55F566}"/>
              </a:ext>
            </a:extLst>
          </p:cNvPr>
          <p:cNvSpPr>
            <a:spLocks xmlns:a="http://schemas.openxmlformats.org/drawingml/2006/main" noGrp="1"/>
          </p:cNvSpPr>
          <p:nvPr/>
        </p:nvSpPr>
        <p:spPr>
          <a:xfrm xmlns:a="http://schemas.openxmlformats.org/drawingml/2006/main">
            <a:off x="819150" y="47434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Authorization boundary</a:t>
            </a:r>
          </a:p>
        </p:txBody>
      </p:sp>
      <p:sp>
        <p:nvSpPr>
          <p:cNvPr id="17" name="">
            <a:extLst xmlns:a="http://schemas.openxmlformats.org/drawingml/2006/main">
              <a:ext uri="{FF2B5EF4-FFF2-40B4-BE49-F238E27FC236}">
                <a16:creationId xmlns:a16="http://schemas.microsoft.com/office/drawing/2014/main" id="{C29853AE-CAF9-43D5-BB23-D840C42770BE}"/>
              </a:ext>
            </a:extLst>
          </p:cNvPr>
          <p:cNvSpPr>
            <a:spLocks xmlns:a="http://schemas.openxmlformats.org/drawingml/2006/main" noGrp="1"/>
          </p:cNvSpPr>
          <p:nvPr/>
        </p:nvSpPr>
        <p:spPr>
          <a:xfrm xmlns:a="http://schemas.openxmlformats.org/drawingml/2006/main">
            <a:off x="6572250" y="2238375"/>
            <a:ext cx="4476750" cy="2000250"/>
          </a:xfrm>
          <a:prstGeom xmlns:a="http://schemas.openxmlformats.org/drawingml/2006/main" prst="roundRect">
            <a:avLst>
              <a:gd name="adj" fmla="val 6667"/>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4E871F-19ED-4CC5-B68D-E970FEA6537B}"/>
              </a:ext>
            </a:extLst>
          </p:cNvPr>
          <p:cNvSpPr>
            <a:spLocks xmlns:a="http://schemas.openxmlformats.org/drawingml/2006/main" noGrp="1"/>
          </p:cNvSpPr>
          <p:nvPr/>
        </p:nvSpPr>
        <p:spPr>
          <a:xfrm xmlns:a="http://schemas.openxmlformats.org/drawingml/2006/main">
            <a:off x="4000500" y="47625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Authentication identifies the user. The API and Lambda enforce which records and actions are permitted.</a:t>
            </a:r>
          </a:p>
        </p:txBody>
      </p:sp>
      <p:sp>
        <p:nvSpPr>
          <p:cNvPr id="19" name="">
            <a:extLst xmlns:a="http://schemas.openxmlformats.org/drawingml/2006/main">
              <a:ext uri="{FF2B5EF4-FFF2-40B4-BE49-F238E27FC236}">
                <a16:creationId xmlns:a16="http://schemas.microsoft.com/office/drawing/2014/main" id="{9C6E6CFA-FC05-4A15-BCA5-CD1A86C852A9}"/>
              </a:ext>
            </a:extLst>
          </p:cNvPr>
          <p:cNvSpPr>
            <a:spLocks xmlns:a="http://schemas.openxmlformats.org/drawingml/2006/main" noGrp="1"/>
          </p:cNvSpPr>
          <p:nvPr/>
        </p:nvSpPr>
        <p:spPr>
          <a:xfrm xmlns:a="http://schemas.openxmlformats.org/drawingml/2006/main">
            <a:off x="819150" y="55245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Security in the demonstration</a:t>
            </a:r>
          </a:p>
        </p:txBody>
      </p:sp>
      <p:sp>
        <p:nvSpPr>
          <p:cNvPr id="20" name="">
            <a:extLst xmlns:a="http://schemas.openxmlformats.org/drawingml/2006/main">
              <a:ext uri="{FF2B5EF4-FFF2-40B4-BE49-F238E27FC236}">
                <a16:creationId xmlns:a16="http://schemas.microsoft.com/office/drawing/2014/main" id="{C6B94624-7B3F-463A-B6DB-625E70E2C0B8}"/>
              </a:ext>
            </a:extLst>
          </p:cNvPr>
          <p:cNvSpPr>
            <a:spLocks xmlns:a="http://schemas.openxmlformats.org/drawingml/2006/main" noGrp="1"/>
          </p:cNvSpPr>
          <p:nvPr/>
        </p:nvSpPr>
        <p:spPr>
          <a:xfrm xmlns:a="http://schemas.openxmlformats.org/drawingml/2006/main">
            <a:off x="4000500" y="55435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Unauthenticated access, a rejected auditor write, secure photograph access and logout.</a:t>
            </a:r>
          </a:p>
        </p:txBody>
      </p:sp>
      <p:sp>
        <p:nvSpPr>
          <p:cNvPr id="21" name="">
            <a:extLst xmlns:a="http://schemas.openxmlformats.org/drawingml/2006/main">
              <a:ext uri="{FF2B5EF4-FFF2-40B4-BE49-F238E27FC236}">
                <a16:creationId xmlns:a16="http://schemas.microsoft.com/office/drawing/2014/main" id="{23E99D78-ADA3-43FE-B449-2BEDD2594DCA}"/>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AWS Smart Asset Lifecycle Tracker  |  Week 4</a:t>
            </a:r>
          </a:p>
        </p:txBody>
      </p:sp>
      <p:sp>
        <p:nvSpPr>
          <p:cNvPr id="22" name="">
            <a:extLst xmlns:a="http://schemas.openxmlformats.org/drawingml/2006/main">
              <a:ext uri="{FF2B5EF4-FFF2-40B4-BE49-F238E27FC236}">
                <a16:creationId xmlns:a16="http://schemas.microsoft.com/office/drawing/2014/main" id="{D3BA4B1F-0E9E-4A5B-9FC2-CE33ED3ED204}"/>
              </a:ext>
            </a:extLst>
          </p:cNvPr>
          <p:cNvSpPr>
            <a:spLocks xmlns:a="http://schemas.openxmlformats.org/drawingml/2006/main" noGrp="1"/>
          </p:cNvSpPr>
          <p:nvPr/>
        </p:nvSpPr>
        <p:spPr>
          <a:xfrm xmlns:a="http://schemas.openxmlformats.org/drawingml/2006/main">
            <a:off x="108394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05</a:t>
            </a:r>
          </a:p>
        </p:txBody>
      </p:sp>
    </p:spTree>
    <p:extLst>
      <p:ext uri="{BB962C8B-B14F-4D97-AF65-F5344CB8AC3E}">
        <p14:creationId xmlns:p14="http://schemas.microsoft.com/office/powerpoint/2010/main" val="16962868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2013AB7-D327-47A2-803F-42458676F1DC}"/>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550" b="1">
                <a:solidFill>
                  <a:srgbClr val="102A43"/>
                </a:solidFill>
                <a:latin typeface="DejaVu Serif"/>
                <a:ea typeface="DejaVu Serif"/>
                <a:cs typeface="DejaVu Serif"/>
              </a:defRPr>
            </a:pPr>
            <a:r>
              <a:rPr sz="2550" b="1">
                <a:solidFill>
                  <a:srgbClr val="102A43"/>
                </a:solidFill>
                <a:latin typeface="DejaVu Serif"/>
                <a:ea typeface="DejaVu Serif"/>
                <a:cs typeface="DejaVu Serif"/>
              </a:rPr>
              <a:t>Live demonstration: the asset lifecycle</a:t>
            </a:r>
          </a:p>
        </p:txBody>
      </p:sp>
      <p:sp>
        <p:nvSpPr>
          <p:cNvPr id="2" name="">
            <a:extLst xmlns:a="http://schemas.openxmlformats.org/drawingml/2006/main">
              <a:ext uri="{FF2B5EF4-FFF2-40B4-BE49-F238E27FC236}">
                <a16:creationId xmlns:a16="http://schemas.microsoft.com/office/drawing/2014/main" id="{C1E1590E-4D74-4448-B7EE-1C427C2FDECB}"/>
              </a:ext>
            </a:extLst>
          </p:cNvPr>
          <p:cNvSpPr>
            <a:spLocks xmlns:a="http://schemas.openxmlformats.org/drawingml/2006/main" noGrp="1"/>
          </p:cNvSpPr>
          <p:nvPr/>
        </p:nvSpPr>
        <p:spPr>
          <a:xfrm xmlns:a="http://schemas.openxmlformats.org/drawingml/2006/main">
            <a:off x="704850" y="9525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 business laptop provides a consistent example across the required demonstration steps</a:t>
            </a:r>
          </a:p>
        </p:txBody>
      </p:sp>
      <p:sp>
        <p:nvSpPr>
          <p:cNvPr id="3" name="">
            <a:extLst xmlns:a="http://schemas.openxmlformats.org/drawingml/2006/main">
              <a:ext uri="{FF2B5EF4-FFF2-40B4-BE49-F238E27FC236}">
                <a16:creationId xmlns:a16="http://schemas.microsoft.com/office/drawing/2014/main" id="{679C8370-CC41-4953-8F6D-F8C7BBDA7C51}"/>
              </a:ext>
            </a:extLst>
          </p:cNvPr>
          <p:cNvSpPr>
            <a:spLocks xmlns:a="http://schemas.openxmlformats.org/drawingml/2006/main" noGrp="1"/>
          </p:cNvSpPr>
          <p:nvPr/>
        </p:nvSpPr>
        <p:spPr>
          <a:xfrm xmlns:a="http://schemas.openxmlformats.org/drawingml/2006/main">
            <a:off x="685800" y="1314450"/>
            <a:ext cx="10820400" cy="28575"/>
          </a:xfrm>
          <a:prstGeom xmlns:a="http://schemas.openxmlformats.org/drawingml/2006/main" prst="rect">
            <a:avLst/>
          </a:prstGeom>
          <a:solidFill xmlns:a="http://schemas.openxmlformats.org/drawingml/2006/main">
            <a:srgbClr val="146C9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5AEF9BB-26A0-4F46-A1D2-F4FB6AEC7C95}"/>
              </a:ext>
            </a:extLst>
          </p:cNvPr>
          <p:cNvSpPr>
            <a:spLocks xmlns:a="http://schemas.openxmlformats.org/drawingml/2006/main" noGrp="1"/>
          </p:cNvSpPr>
          <p:nvPr/>
        </p:nvSpPr>
        <p:spPr>
          <a:xfrm xmlns:a="http://schemas.openxmlformats.org/drawingml/2006/main">
            <a:off x="819150" y="17145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2E7D5B"/>
                </a:solidFill>
                <a:latin typeface="DejaVu Serif"/>
                <a:ea typeface="DejaVu Serif"/>
                <a:cs typeface="DejaVu Serif"/>
              </a:defRPr>
            </a:pPr>
            <a:r>
              <a:rPr sz="2250" b="1">
                <a:solidFill>
                  <a:srgbClr val="2E7D5B"/>
                </a:solidFill>
                <a:latin typeface="DejaVu Serif"/>
                <a:ea typeface="DejaVu Serif"/>
                <a:cs typeface="DejaVu Serif"/>
              </a:rPr>
              <a:t>Access</a:t>
            </a:r>
          </a:p>
        </p:txBody>
      </p:sp>
      <p:sp>
        <p:nvSpPr>
          <p:cNvPr id="5" name="">
            <a:extLst xmlns:a="http://schemas.openxmlformats.org/drawingml/2006/main">
              <a:ext uri="{FF2B5EF4-FFF2-40B4-BE49-F238E27FC236}">
                <a16:creationId xmlns:a16="http://schemas.microsoft.com/office/drawing/2014/main" id="{60D9E694-2F3D-4C58-BF87-B7BEEF5966A8}"/>
              </a:ext>
            </a:extLst>
          </p:cNvPr>
          <p:cNvSpPr>
            <a:spLocks xmlns:a="http://schemas.openxmlformats.org/drawingml/2006/main" noGrp="1"/>
          </p:cNvSpPr>
          <p:nvPr/>
        </p:nvSpPr>
        <p:spPr>
          <a:xfrm xmlns:a="http://schemas.openxmlformats.org/drawingml/2006/main">
            <a:off x="3143250" y="173355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Login and protected pages</a:t>
            </a:r>
          </a:p>
        </p:txBody>
      </p:sp>
      <p:sp>
        <p:nvSpPr>
          <p:cNvPr id="6" name="">
            <a:extLst xmlns:a="http://schemas.openxmlformats.org/drawingml/2006/main">
              <a:ext uri="{FF2B5EF4-FFF2-40B4-BE49-F238E27FC236}">
                <a16:creationId xmlns:a16="http://schemas.microsoft.com/office/drawing/2014/main" id="{D08F34AC-9815-4C1E-B3ED-4BAB29D0A4CF}"/>
              </a:ext>
            </a:extLst>
          </p:cNvPr>
          <p:cNvSpPr>
            <a:spLocks xmlns:a="http://schemas.openxmlformats.org/drawingml/2006/main" noGrp="1"/>
          </p:cNvSpPr>
          <p:nvPr/>
        </p:nvSpPr>
        <p:spPr>
          <a:xfrm xmlns:a="http://schemas.openxmlformats.org/drawingml/2006/main">
            <a:off x="819150" y="280987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146C94"/>
                </a:solidFill>
                <a:latin typeface="DejaVu Serif"/>
                <a:ea typeface="DejaVu Serif"/>
                <a:cs typeface="DejaVu Serif"/>
              </a:defRPr>
            </a:pPr>
            <a:r>
              <a:rPr sz="2250" b="1">
                <a:solidFill>
                  <a:srgbClr val="146C94"/>
                </a:solidFill>
                <a:latin typeface="DejaVu Serif"/>
                <a:ea typeface="DejaVu Serif"/>
                <a:cs typeface="DejaVu Serif"/>
              </a:rPr>
              <a:t>Register</a:t>
            </a:r>
          </a:p>
        </p:txBody>
      </p:sp>
      <p:sp>
        <p:nvSpPr>
          <p:cNvPr id="7" name="">
            <a:extLst xmlns:a="http://schemas.openxmlformats.org/drawingml/2006/main">
              <a:ext uri="{FF2B5EF4-FFF2-40B4-BE49-F238E27FC236}">
                <a16:creationId xmlns:a16="http://schemas.microsoft.com/office/drawing/2014/main" id="{BD058715-66FE-4255-91BA-80E2CEB08E7F}"/>
              </a:ext>
            </a:extLst>
          </p:cNvPr>
          <p:cNvSpPr>
            <a:spLocks xmlns:a="http://schemas.openxmlformats.org/drawingml/2006/main" noGrp="1"/>
          </p:cNvSpPr>
          <p:nvPr/>
        </p:nvSpPr>
        <p:spPr>
          <a:xfrm xmlns:a="http://schemas.openxmlformats.org/drawingml/2006/main">
            <a:off x="3143250" y="282892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Manual entry and photo review</a:t>
            </a:r>
          </a:p>
        </p:txBody>
      </p:sp>
      <p:sp>
        <p:nvSpPr>
          <p:cNvPr id="8" name="">
            <a:extLst xmlns:a="http://schemas.openxmlformats.org/drawingml/2006/main">
              <a:ext uri="{FF2B5EF4-FFF2-40B4-BE49-F238E27FC236}">
                <a16:creationId xmlns:a16="http://schemas.microsoft.com/office/drawing/2014/main" id="{2ACE5045-F37F-4CB8-9B44-9103BE408AF6}"/>
              </a:ext>
            </a:extLst>
          </p:cNvPr>
          <p:cNvSpPr>
            <a:spLocks xmlns:a="http://schemas.openxmlformats.org/drawingml/2006/main" noGrp="1"/>
          </p:cNvSpPr>
          <p:nvPr/>
        </p:nvSpPr>
        <p:spPr>
          <a:xfrm xmlns:a="http://schemas.openxmlformats.org/drawingml/2006/main">
            <a:off x="819150" y="39052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287F76"/>
                </a:solidFill>
                <a:latin typeface="DejaVu Serif"/>
                <a:ea typeface="DejaVu Serif"/>
                <a:cs typeface="DejaVu Serif"/>
              </a:defRPr>
            </a:pPr>
            <a:r>
              <a:rPr sz="2250" b="1">
                <a:solidFill>
                  <a:srgbClr val="287F76"/>
                </a:solidFill>
                <a:latin typeface="DejaVu Serif"/>
                <a:ea typeface="DejaVu Serif"/>
                <a:cs typeface="DejaVu Serif"/>
              </a:rPr>
              <a:t>Manage</a:t>
            </a:r>
          </a:p>
        </p:txBody>
      </p:sp>
      <p:sp>
        <p:nvSpPr>
          <p:cNvPr id="9" name="">
            <a:extLst xmlns:a="http://schemas.openxmlformats.org/drawingml/2006/main">
              <a:ext uri="{FF2B5EF4-FFF2-40B4-BE49-F238E27FC236}">
                <a16:creationId xmlns:a16="http://schemas.microsoft.com/office/drawing/2014/main" id="{F60F7CBB-E19C-4749-8FAA-C4596F6DB76C}"/>
              </a:ext>
            </a:extLst>
          </p:cNvPr>
          <p:cNvSpPr>
            <a:spLocks xmlns:a="http://schemas.openxmlformats.org/drawingml/2006/main" noGrp="1"/>
          </p:cNvSpPr>
          <p:nvPr/>
        </p:nvSpPr>
        <p:spPr>
          <a:xfrm xmlns:a="http://schemas.openxmlformats.org/drawingml/2006/main">
            <a:off x="3143250" y="39243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Value, history and AI guidance</a:t>
            </a:r>
          </a:p>
        </p:txBody>
      </p:sp>
      <p:sp>
        <p:nvSpPr>
          <p:cNvPr id="10" name="">
            <a:extLst xmlns:a="http://schemas.openxmlformats.org/drawingml/2006/main">
              <a:ext uri="{FF2B5EF4-FFF2-40B4-BE49-F238E27FC236}">
                <a16:creationId xmlns:a16="http://schemas.microsoft.com/office/drawing/2014/main" id="{1BD946C6-C53C-4D0D-AAD8-B87EA733FAC3}"/>
              </a:ext>
            </a:extLst>
          </p:cNvPr>
          <p:cNvSpPr>
            <a:spLocks xmlns:a="http://schemas.openxmlformats.org/drawingml/2006/main" noGrp="1"/>
          </p:cNvSpPr>
          <p:nvPr/>
        </p:nvSpPr>
        <p:spPr>
          <a:xfrm xmlns:a="http://schemas.openxmlformats.org/drawingml/2006/main">
            <a:off x="819150" y="500062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A66717"/>
                </a:solidFill>
                <a:latin typeface="DejaVu Serif"/>
                <a:ea typeface="DejaVu Serif"/>
                <a:cs typeface="DejaVu Serif"/>
              </a:defRPr>
            </a:pPr>
            <a:r>
              <a:rPr sz="2250" b="1">
                <a:solidFill>
                  <a:srgbClr val="A66717"/>
                </a:solidFill>
                <a:latin typeface="DejaVu Serif"/>
                <a:ea typeface="DejaVu Serif"/>
                <a:cs typeface="DejaVu Serif"/>
              </a:rPr>
              <a:t>Verify</a:t>
            </a:r>
          </a:p>
        </p:txBody>
      </p:sp>
      <p:sp>
        <p:nvSpPr>
          <p:cNvPr id="11" name="">
            <a:extLst xmlns:a="http://schemas.openxmlformats.org/drawingml/2006/main">
              <a:ext uri="{FF2B5EF4-FFF2-40B4-BE49-F238E27FC236}">
                <a16:creationId xmlns:a16="http://schemas.microsoft.com/office/drawing/2014/main" id="{6EA3E827-D876-442A-88A8-D06D8A4B0F5F}"/>
              </a:ext>
            </a:extLst>
          </p:cNvPr>
          <p:cNvSpPr>
            <a:spLocks xmlns:a="http://schemas.openxmlformats.org/drawingml/2006/main" noGrp="1"/>
          </p:cNvSpPr>
          <p:nvPr/>
        </p:nvSpPr>
        <p:spPr>
          <a:xfrm xmlns:a="http://schemas.openxmlformats.org/drawingml/2006/main">
            <a:off x="3143250" y="50196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Permissions, monitoring and logout</a:t>
            </a:r>
          </a:p>
        </p:txBody>
      </p:sp>
      <p:sp>
        <p:nvSpPr>
          <p:cNvPr id="12" name="">
            <a:extLst xmlns:a="http://schemas.openxmlformats.org/drawingml/2006/main">
              <a:ext uri="{FF2B5EF4-FFF2-40B4-BE49-F238E27FC236}">
                <a16:creationId xmlns:a16="http://schemas.microsoft.com/office/drawing/2014/main" id="{53F56DF7-B41E-4A6C-B7D8-CC0D206EF4EF}"/>
              </a:ext>
            </a:extLst>
          </p:cNvPr>
          <p:cNvSpPr>
            <a:spLocks xmlns:a="http://schemas.openxmlformats.org/drawingml/2006/main" noGrp="1"/>
          </p:cNvSpPr>
          <p:nvPr/>
        </p:nvSpPr>
        <p:spPr>
          <a:xfrm xmlns:a="http://schemas.openxmlformats.org/drawingml/2006/main">
            <a:off x="800100" y="3333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2E7D5B"/>
                </a:solidFill>
                <a:latin typeface="DejaVu Serif"/>
                <a:ea typeface="DejaVu Serif"/>
                <a:cs typeface="DejaVu Serif"/>
              </a:defRPr>
            </a:pPr>
            <a:r>
              <a:rPr sz="1275" b="1">
                <a:solidFill>
                  <a:srgbClr val="2E7D5B"/>
                </a:solidFill>
                <a:latin typeface="DejaVu Serif"/>
                <a:ea typeface="DejaVu Serif"/>
                <a:cs typeface="DejaVu Serif"/>
              </a:rPr>
              <a:t/>
            </a:r>
          </a:p>
        </p:txBody>
      </p:sp>
      <p:sp>
        <p:nvSpPr>
          <p:cNvPr id="13" name="">
            <a:extLst xmlns:a="http://schemas.openxmlformats.org/drawingml/2006/main">
              <a:ext uri="{FF2B5EF4-FFF2-40B4-BE49-F238E27FC236}">
                <a16:creationId xmlns:a16="http://schemas.microsoft.com/office/drawing/2014/main" id="{CF5FEE70-C08B-444A-BCE1-2EB0B9BC8EE9}"/>
              </a:ext>
            </a:extLst>
          </p:cNvPr>
          <p:cNvSpPr>
            <a:spLocks xmlns:a="http://schemas.openxmlformats.org/drawingml/2006/main" noGrp="1"/>
          </p:cNvSpPr>
          <p:nvPr/>
        </p:nvSpPr>
        <p:spPr>
          <a:xfrm xmlns:a="http://schemas.openxmlformats.org/drawingml/2006/main">
            <a:off x="1323975" y="3333750"/>
            <a:ext cx="4286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14" name="">
            <a:extLst xmlns:a="http://schemas.openxmlformats.org/drawingml/2006/main">
              <a:ext uri="{FF2B5EF4-FFF2-40B4-BE49-F238E27FC236}">
                <a16:creationId xmlns:a16="http://schemas.microsoft.com/office/drawing/2014/main" id="{E4C15F42-63D5-4D90-AC59-D4D1237A92ED}"/>
              </a:ext>
            </a:extLst>
          </p:cNvPr>
          <p:cNvSpPr>
            <a:spLocks xmlns:a="http://schemas.openxmlformats.org/drawingml/2006/main" noGrp="1"/>
          </p:cNvSpPr>
          <p:nvPr/>
        </p:nvSpPr>
        <p:spPr>
          <a:xfrm xmlns:a="http://schemas.openxmlformats.org/drawingml/2006/main">
            <a:off x="3143250" y="2085975"/>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Attempt access before signing in, then complete a successful Cognito login.</a:t>
            </a:r>
          </a:p>
        </p:txBody>
      </p:sp>
      <p:sp>
        <p:nvSpPr>
          <p:cNvPr id="15" name="">
            <a:extLst xmlns:a="http://schemas.openxmlformats.org/drawingml/2006/main">
              <a:ext uri="{FF2B5EF4-FFF2-40B4-BE49-F238E27FC236}">
                <a16:creationId xmlns:a16="http://schemas.microsoft.com/office/drawing/2014/main" id="{97897294-EA67-4DB8-9AEF-2EB1B4208ADB}"/>
              </a:ext>
            </a:extLst>
          </p:cNvPr>
          <p:cNvSpPr>
            <a:spLocks xmlns:a="http://schemas.openxmlformats.org/drawingml/2006/main" noGrp="1"/>
          </p:cNvSpPr>
          <p:nvPr/>
        </p:nvSpPr>
        <p:spPr>
          <a:xfrm xmlns:a="http://schemas.openxmlformats.org/drawingml/2006/main">
            <a:off x="800100" y="452437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146C94"/>
                </a:solidFill>
                <a:latin typeface="DejaVu Serif"/>
                <a:ea typeface="DejaVu Serif"/>
                <a:cs typeface="DejaVu Serif"/>
              </a:defRPr>
            </a:pPr>
            <a:r>
              <a:rPr sz="1275" b="1">
                <a:solidFill>
                  <a:srgbClr val="146C94"/>
                </a:solidFill>
                <a:latin typeface="DejaVu Serif"/>
                <a:ea typeface="DejaVu Serif"/>
                <a:cs typeface="DejaVu Serif"/>
              </a:rPr>
              <a:t/>
            </a:r>
          </a:p>
        </p:txBody>
      </p:sp>
      <p:sp>
        <p:nvSpPr>
          <p:cNvPr id="16" name="">
            <a:extLst xmlns:a="http://schemas.openxmlformats.org/drawingml/2006/main">
              <a:ext uri="{FF2B5EF4-FFF2-40B4-BE49-F238E27FC236}">
                <a16:creationId xmlns:a16="http://schemas.microsoft.com/office/drawing/2014/main" id="{9651EFC7-B379-4EE6-A4FF-5EC92A14BF8D}"/>
              </a:ext>
            </a:extLst>
          </p:cNvPr>
          <p:cNvSpPr>
            <a:spLocks xmlns:a="http://schemas.openxmlformats.org/drawingml/2006/main" noGrp="1"/>
          </p:cNvSpPr>
          <p:nvPr/>
        </p:nvSpPr>
        <p:spPr>
          <a:xfrm xmlns:a="http://schemas.openxmlformats.org/drawingml/2006/main">
            <a:off x="1323975" y="4524375"/>
            <a:ext cx="4286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17" name="">
            <a:extLst xmlns:a="http://schemas.openxmlformats.org/drawingml/2006/main">
              <a:ext uri="{FF2B5EF4-FFF2-40B4-BE49-F238E27FC236}">
                <a16:creationId xmlns:a16="http://schemas.microsoft.com/office/drawing/2014/main" id="{C656C5FE-6598-4848-9BDE-1FA2A9BB670D}"/>
              </a:ext>
            </a:extLst>
          </p:cNvPr>
          <p:cNvSpPr>
            <a:spLocks xmlns:a="http://schemas.openxmlformats.org/drawingml/2006/main" noGrp="1"/>
          </p:cNvSpPr>
          <p:nvPr/>
        </p:nvSpPr>
        <p:spPr>
          <a:xfrm xmlns:a="http://schemas.openxmlformats.org/drawingml/2006/main">
            <a:off x="3143250" y="3181350"/>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Create assets manually and from a photograph. Correct AI suggestions and demonstrate manual fallback.</a:t>
            </a:r>
          </a:p>
        </p:txBody>
      </p:sp>
      <p:sp>
        <p:nvSpPr>
          <p:cNvPr id="18" name="">
            <a:extLst xmlns:a="http://schemas.openxmlformats.org/drawingml/2006/main">
              <a:ext uri="{FF2B5EF4-FFF2-40B4-BE49-F238E27FC236}">
                <a16:creationId xmlns:a16="http://schemas.microsoft.com/office/drawing/2014/main" id="{3763A7B7-C21E-44B7-98DD-F228B631E4FF}"/>
              </a:ext>
            </a:extLst>
          </p:cNvPr>
          <p:cNvSpPr>
            <a:spLocks xmlns:a="http://schemas.openxmlformats.org/drawingml/2006/main" noGrp="1"/>
          </p:cNvSpPr>
          <p:nvPr/>
        </p:nvSpPr>
        <p:spPr>
          <a:xfrm xmlns:a="http://schemas.openxmlformats.org/drawingml/2006/main">
            <a:off x="6381750" y="3333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287F76"/>
                </a:solidFill>
                <a:latin typeface="DejaVu Serif"/>
                <a:ea typeface="DejaVu Serif"/>
                <a:cs typeface="DejaVu Serif"/>
              </a:defRPr>
            </a:pPr>
            <a:r>
              <a:rPr sz="1275" b="1">
                <a:solidFill>
                  <a:srgbClr val="287F76"/>
                </a:solidFill>
                <a:latin typeface="DejaVu Serif"/>
                <a:ea typeface="DejaVu Serif"/>
                <a:cs typeface="DejaVu Serif"/>
              </a:rPr>
              <a:t/>
            </a:r>
          </a:p>
        </p:txBody>
      </p:sp>
      <p:sp>
        <p:nvSpPr>
          <p:cNvPr id="19" name="">
            <a:extLst xmlns:a="http://schemas.openxmlformats.org/drawingml/2006/main">
              <a:ext uri="{FF2B5EF4-FFF2-40B4-BE49-F238E27FC236}">
                <a16:creationId xmlns:a16="http://schemas.microsoft.com/office/drawing/2014/main" id="{8BCAF582-8EF3-4936-A0AE-B0A5C7937593}"/>
              </a:ext>
            </a:extLst>
          </p:cNvPr>
          <p:cNvSpPr>
            <a:spLocks xmlns:a="http://schemas.openxmlformats.org/drawingml/2006/main" noGrp="1"/>
          </p:cNvSpPr>
          <p:nvPr/>
        </p:nvSpPr>
        <p:spPr>
          <a:xfrm xmlns:a="http://schemas.openxmlformats.org/drawingml/2006/main">
            <a:off x="6905625" y="3333750"/>
            <a:ext cx="4333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20" name="">
            <a:extLst xmlns:a="http://schemas.openxmlformats.org/drawingml/2006/main">
              <a:ext uri="{FF2B5EF4-FFF2-40B4-BE49-F238E27FC236}">
                <a16:creationId xmlns:a16="http://schemas.microsoft.com/office/drawing/2014/main" id="{E0A7F7B1-A6BF-4643-B8DA-D57261ABCA8F}"/>
              </a:ext>
            </a:extLst>
          </p:cNvPr>
          <p:cNvSpPr>
            <a:spLocks xmlns:a="http://schemas.openxmlformats.org/drawingml/2006/main" noGrp="1"/>
          </p:cNvSpPr>
          <p:nvPr/>
        </p:nvSpPr>
        <p:spPr>
          <a:xfrm xmlns:a="http://schemas.openxmlformats.org/drawingml/2006/main">
            <a:off x="3143250" y="4276725"/>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Show automatic depreciation, save a maintenance record and generate an explained AI recommendation.</a:t>
            </a:r>
          </a:p>
        </p:txBody>
      </p:sp>
      <p:sp>
        <p:nvSpPr>
          <p:cNvPr id="21" name="">
            <a:extLst xmlns:a="http://schemas.openxmlformats.org/drawingml/2006/main">
              <a:ext uri="{FF2B5EF4-FFF2-40B4-BE49-F238E27FC236}">
                <a16:creationId xmlns:a16="http://schemas.microsoft.com/office/drawing/2014/main" id="{9F1915DA-56FE-45C6-902C-4257CECC6347}"/>
              </a:ext>
            </a:extLst>
          </p:cNvPr>
          <p:cNvSpPr>
            <a:spLocks xmlns:a="http://schemas.openxmlformats.org/drawingml/2006/main" noGrp="1"/>
          </p:cNvSpPr>
          <p:nvPr/>
        </p:nvSpPr>
        <p:spPr>
          <a:xfrm xmlns:a="http://schemas.openxmlformats.org/drawingml/2006/main">
            <a:off x="6381750" y="452437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A66717"/>
                </a:solidFill>
                <a:latin typeface="DejaVu Serif"/>
                <a:ea typeface="DejaVu Serif"/>
                <a:cs typeface="DejaVu Serif"/>
              </a:defRPr>
            </a:pPr>
            <a:r>
              <a:rPr sz="1275" b="1">
                <a:solidFill>
                  <a:srgbClr val="A66717"/>
                </a:solidFill>
                <a:latin typeface="DejaVu Serif"/>
                <a:ea typeface="DejaVu Serif"/>
                <a:cs typeface="DejaVu Serif"/>
              </a:rPr>
              <a:t/>
            </a:r>
          </a:p>
        </p:txBody>
      </p:sp>
      <p:sp>
        <p:nvSpPr>
          <p:cNvPr id="22" name="">
            <a:extLst xmlns:a="http://schemas.openxmlformats.org/drawingml/2006/main">
              <a:ext uri="{FF2B5EF4-FFF2-40B4-BE49-F238E27FC236}">
                <a16:creationId xmlns:a16="http://schemas.microsoft.com/office/drawing/2014/main" id="{046B8F7B-D798-44B9-A834-C3457123517A}"/>
              </a:ext>
            </a:extLst>
          </p:cNvPr>
          <p:cNvSpPr>
            <a:spLocks xmlns:a="http://schemas.openxmlformats.org/drawingml/2006/main" noGrp="1"/>
          </p:cNvSpPr>
          <p:nvPr/>
        </p:nvSpPr>
        <p:spPr>
          <a:xfrm xmlns:a="http://schemas.openxmlformats.org/drawingml/2006/main">
            <a:off x="6905625" y="4524375"/>
            <a:ext cx="4333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23" name="">
            <a:extLst xmlns:a="http://schemas.openxmlformats.org/drawingml/2006/main">
              <a:ext uri="{FF2B5EF4-FFF2-40B4-BE49-F238E27FC236}">
                <a16:creationId xmlns:a16="http://schemas.microsoft.com/office/drawing/2014/main" id="{5E215ED2-3507-4287-B921-2B5493FD589E}"/>
              </a:ext>
            </a:extLst>
          </p:cNvPr>
          <p:cNvSpPr>
            <a:spLocks xmlns:a="http://schemas.openxmlformats.org/drawingml/2006/main" noGrp="1"/>
          </p:cNvSpPr>
          <p:nvPr/>
        </p:nvSpPr>
        <p:spPr>
          <a:xfrm xmlns:a="http://schemas.openxmlformats.org/drawingml/2006/main">
            <a:off x="3143250" y="5372100"/>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Block a restricted action, show CloudWatch activity, then log out and verify loss of access.</a:t>
            </a:r>
          </a:p>
        </p:txBody>
      </p:sp>
      <p:sp>
        <p:nvSpPr>
          <p:cNvPr id="24" name="">
            <a:extLst xmlns:a="http://schemas.openxmlformats.org/drawingml/2006/main">
              <a:ext uri="{FF2B5EF4-FFF2-40B4-BE49-F238E27FC236}">
                <a16:creationId xmlns:a16="http://schemas.microsoft.com/office/drawing/2014/main" id="{589C6615-BE55-4876-AF7D-5A64750B41CE}"/>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AWS Smart Asset Lifecycle Tracker  |  Week 4</a:t>
            </a:r>
          </a:p>
        </p:txBody>
      </p:sp>
      <p:sp>
        <p:nvSpPr>
          <p:cNvPr id="25" name="">
            <a:extLst xmlns:a="http://schemas.openxmlformats.org/drawingml/2006/main">
              <a:ext uri="{FF2B5EF4-FFF2-40B4-BE49-F238E27FC236}">
                <a16:creationId xmlns:a16="http://schemas.microsoft.com/office/drawing/2014/main" id="{284C6E9B-4738-47F5-8C9C-71E3AE1832C9}"/>
              </a:ext>
            </a:extLst>
          </p:cNvPr>
          <p:cNvSpPr>
            <a:spLocks xmlns:a="http://schemas.openxmlformats.org/drawingml/2006/main" noGrp="1"/>
          </p:cNvSpPr>
          <p:nvPr/>
        </p:nvSpPr>
        <p:spPr>
          <a:xfrm xmlns:a="http://schemas.openxmlformats.org/drawingml/2006/main">
            <a:off x="108394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06</a:t>
            </a:r>
          </a:p>
        </p:txBody>
      </p:sp>
    </p:spTree>
    <p:extLst>
      <p:ext uri="{BB962C8B-B14F-4D97-AF65-F5344CB8AC3E}">
        <p14:creationId xmlns:p14="http://schemas.microsoft.com/office/powerpoint/2010/main" val="140779542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62E6CFC-9D76-4816-B3FC-980BA819AC1F}"/>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550" b="1">
                <a:solidFill>
                  <a:srgbClr val="102A43"/>
                </a:solidFill>
                <a:latin typeface="DejaVu Serif"/>
                <a:ea typeface="DejaVu Serif"/>
                <a:cs typeface="DejaVu Serif"/>
              </a:defRPr>
            </a:pPr>
            <a:r>
              <a:rPr sz="2550" b="1">
                <a:solidFill>
                  <a:srgbClr val="102A43"/>
                </a:solidFill>
                <a:latin typeface="DejaVu Serif"/>
                <a:ea typeface="DejaVu Serif"/>
                <a:cs typeface="DejaVu Serif"/>
              </a:rPr>
              <a:t>Testing and monitoring</a:t>
            </a:r>
          </a:p>
        </p:txBody>
      </p:sp>
      <p:sp>
        <p:nvSpPr>
          <p:cNvPr id="2" name="">
            <a:extLst xmlns:a="http://schemas.openxmlformats.org/drawingml/2006/main">
              <a:ext uri="{FF2B5EF4-FFF2-40B4-BE49-F238E27FC236}">
                <a16:creationId xmlns:a16="http://schemas.microsoft.com/office/drawing/2014/main" id="{72C97721-C496-42FC-8AAB-97DA20165E08}"/>
              </a:ext>
            </a:extLst>
          </p:cNvPr>
          <p:cNvSpPr>
            <a:spLocks xmlns:a="http://schemas.openxmlformats.org/drawingml/2006/main" noGrp="1"/>
          </p:cNvSpPr>
          <p:nvPr/>
        </p:nvSpPr>
        <p:spPr>
          <a:xfrm xmlns:a="http://schemas.openxmlformats.org/drawingml/2006/main">
            <a:off x="704850" y="9525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Security acceptance criteria and operational evidence for the final deployment</a:t>
            </a:r>
          </a:p>
        </p:txBody>
      </p:sp>
      <p:sp>
        <p:nvSpPr>
          <p:cNvPr id="3" name="">
            <a:extLst xmlns:a="http://schemas.openxmlformats.org/drawingml/2006/main">
              <a:ext uri="{FF2B5EF4-FFF2-40B4-BE49-F238E27FC236}">
                <a16:creationId xmlns:a16="http://schemas.microsoft.com/office/drawing/2014/main" id="{E81242A3-1747-4EE6-AFBB-7190C904DE40}"/>
              </a:ext>
            </a:extLst>
          </p:cNvPr>
          <p:cNvSpPr>
            <a:spLocks xmlns:a="http://schemas.openxmlformats.org/drawingml/2006/main" noGrp="1"/>
          </p:cNvSpPr>
          <p:nvPr/>
        </p:nvSpPr>
        <p:spPr>
          <a:xfrm xmlns:a="http://schemas.openxmlformats.org/drawingml/2006/main">
            <a:off x="685800" y="1314450"/>
            <a:ext cx="10820400" cy="28575"/>
          </a:xfrm>
          <a:prstGeom xmlns:a="http://schemas.openxmlformats.org/drawingml/2006/main" prst="rect">
            <a:avLst/>
          </a:prstGeom>
          <a:solidFill xmlns:a="http://schemas.openxmlformats.org/drawingml/2006/main">
            <a:srgbClr val="146C9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0731CD2-DF2E-48D9-83E6-9F6BA35DFCB2}"/>
              </a:ext>
            </a:extLst>
          </p:cNvPr>
          <p:cNvSpPr>
            <a:spLocks xmlns:a="http://schemas.openxmlformats.org/drawingml/2006/main" noGrp="1"/>
          </p:cNvSpPr>
          <p:nvPr/>
        </p:nvSpPr>
        <p:spPr>
          <a:xfrm xmlns:a="http://schemas.openxmlformats.org/drawingml/2006/main">
            <a:off x="800100" y="1743075"/>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BFADE2C-7C62-4F02-BD82-C2DED6F008F1}"/>
              </a:ext>
            </a:extLst>
          </p:cNvPr>
          <p:cNvSpPr>
            <a:spLocks xmlns:a="http://schemas.openxmlformats.org/drawingml/2006/main" noGrp="1"/>
          </p:cNvSpPr>
          <p:nvPr/>
        </p:nvSpPr>
        <p:spPr>
          <a:xfrm xmlns:a="http://schemas.openxmlformats.org/drawingml/2006/main">
            <a:off x="819150" y="16192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Authentication and authorization</a:t>
            </a:r>
          </a:p>
        </p:txBody>
      </p:sp>
      <p:sp>
        <p:nvSpPr>
          <p:cNvPr id="6" name="">
            <a:extLst xmlns:a="http://schemas.openxmlformats.org/drawingml/2006/main">
              <a:ext uri="{FF2B5EF4-FFF2-40B4-BE49-F238E27FC236}">
                <a16:creationId xmlns:a16="http://schemas.microsoft.com/office/drawing/2014/main" id="{782B8579-3EC3-40A7-B09F-0E0433176F62}"/>
              </a:ext>
            </a:extLst>
          </p:cNvPr>
          <p:cNvSpPr>
            <a:spLocks xmlns:a="http://schemas.openxmlformats.org/drawingml/2006/main" noGrp="1"/>
          </p:cNvSpPr>
          <p:nvPr/>
        </p:nvSpPr>
        <p:spPr>
          <a:xfrm xmlns:a="http://schemas.openxmlformats.org/drawingml/2006/main">
            <a:off x="4000500" y="16383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Expected: protected pages require login, token-free requests return 401 and auditor writes fail.</a:t>
            </a:r>
          </a:p>
        </p:txBody>
      </p:sp>
      <p:sp>
        <p:nvSpPr>
          <p:cNvPr id="7" name="">
            <a:extLst xmlns:a="http://schemas.openxmlformats.org/drawingml/2006/main">
              <a:ext uri="{FF2B5EF4-FFF2-40B4-BE49-F238E27FC236}">
                <a16:creationId xmlns:a16="http://schemas.microsoft.com/office/drawing/2014/main" id="{04C60AE9-4D51-4E84-9C0E-65ECE3D0BDF4}"/>
              </a:ext>
            </a:extLst>
          </p:cNvPr>
          <p:cNvSpPr>
            <a:spLocks xmlns:a="http://schemas.openxmlformats.org/drawingml/2006/main" noGrp="1"/>
          </p:cNvSpPr>
          <p:nvPr/>
        </p:nvSpPr>
        <p:spPr>
          <a:xfrm xmlns:a="http://schemas.openxmlformats.org/drawingml/2006/main">
            <a:off x="800100" y="2838450"/>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2DE4D3E-B5B5-4691-9BB2-E487356475CB}"/>
              </a:ext>
            </a:extLst>
          </p:cNvPr>
          <p:cNvSpPr>
            <a:spLocks xmlns:a="http://schemas.openxmlformats.org/drawingml/2006/main" noGrp="1"/>
          </p:cNvSpPr>
          <p:nvPr/>
        </p:nvSpPr>
        <p:spPr>
          <a:xfrm xmlns:a="http://schemas.openxmlformats.org/drawingml/2006/main">
            <a:off x="819150" y="24003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Private photographs</a:t>
            </a:r>
          </a:p>
        </p:txBody>
      </p:sp>
      <p:sp>
        <p:nvSpPr>
          <p:cNvPr id="9" name="">
            <a:extLst xmlns:a="http://schemas.openxmlformats.org/drawingml/2006/main">
              <a:ext uri="{FF2B5EF4-FFF2-40B4-BE49-F238E27FC236}">
                <a16:creationId xmlns:a16="http://schemas.microsoft.com/office/drawing/2014/main" id="{08E1883D-4C55-43D2-906B-498429814BBF}"/>
              </a:ext>
            </a:extLst>
          </p:cNvPr>
          <p:cNvSpPr>
            <a:spLocks xmlns:a="http://schemas.openxmlformats.org/drawingml/2006/main" noGrp="1"/>
          </p:cNvSpPr>
          <p:nvPr/>
        </p:nvSpPr>
        <p:spPr>
          <a:xfrm xmlns:a="http://schemas.openxmlformats.org/drawingml/2006/main">
            <a:off x="4000500" y="24193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Expected: anonymous image access fails; authorized users can retrieve photographs securely.</a:t>
            </a:r>
          </a:p>
        </p:txBody>
      </p:sp>
      <p:sp>
        <p:nvSpPr>
          <p:cNvPr id="10" name="">
            <a:extLst xmlns:a="http://schemas.openxmlformats.org/drawingml/2006/main">
              <a:ext uri="{FF2B5EF4-FFF2-40B4-BE49-F238E27FC236}">
                <a16:creationId xmlns:a16="http://schemas.microsoft.com/office/drawing/2014/main" id="{3EF45317-1322-49B0-96AF-838B99EA4E86}"/>
              </a:ext>
            </a:extLst>
          </p:cNvPr>
          <p:cNvSpPr>
            <a:spLocks xmlns:a="http://schemas.openxmlformats.org/drawingml/2006/main" noGrp="1"/>
          </p:cNvSpPr>
          <p:nvPr/>
        </p:nvSpPr>
        <p:spPr>
          <a:xfrm xmlns:a="http://schemas.openxmlformats.org/drawingml/2006/main">
            <a:off x="800100" y="3933825"/>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80A5B36-4F59-4A1D-95A7-531038C62B7B}"/>
              </a:ext>
            </a:extLst>
          </p:cNvPr>
          <p:cNvSpPr>
            <a:spLocks xmlns:a="http://schemas.openxmlformats.org/drawingml/2006/main" noGrp="1"/>
          </p:cNvSpPr>
          <p:nvPr/>
        </p:nvSpPr>
        <p:spPr>
          <a:xfrm xmlns:a="http://schemas.openxmlformats.org/drawingml/2006/main">
            <a:off x="819150" y="31813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Input and application errors</a:t>
            </a:r>
          </a:p>
        </p:txBody>
      </p:sp>
      <p:sp>
        <p:nvSpPr>
          <p:cNvPr id="12" name="">
            <a:extLst xmlns:a="http://schemas.openxmlformats.org/drawingml/2006/main">
              <a:ext uri="{FF2B5EF4-FFF2-40B4-BE49-F238E27FC236}">
                <a16:creationId xmlns:a16="http://schemas.microsoft.com/office/drawing/2014/main" id="{310134EA-E558-4C58-8716-8DD82C464982}"/>
              </a:ext>
            </a:extLst>
          </p:cNvPr>
          <p:cNvSpPr>
            <a:spLocks xmlns:a="http://schemas.openxmlformats.org/drawingml/2006/main" noGrp="1"/>
          </p:cNvSpPr>
          <p:nvPr/>
        </p:nvSpPr>
        <p:spPr>
          <a:xfrm xmlns:a="http://schemas.openxmlformats.org/drawingml/2006/main">
            <a:off x="4000500" y="32004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Expected: invalid or malicious input is rejected; AI failures allow manual registration.</a:t>
            </a:r>
          </a:p>
        </p:txBody>
      </p:sp>
      <p:sp>
        <p:nvSpPr>
          <p:cNvPr id="13" name="">
            <a:extLst xmlns:a="http://schemas.openxmlformats.org/drawingml/2006/main">
              <a:ext uri="{FF2B5EF4-FFF2-40B4-BE49-F238E27FC236}">
                <a16:creationId xmlns:a16="http://schemas.microsoft.com/office/drawing/2014/main" id="{D6E63163-F5C8-48D9-8E9E-DE6A2E6645F7}"/>
              </a:ext>
            </a:extLst>
          </p:cNvPr>
          <p:cNvSpPr>
            <a:spLocks xmlns:a="http://schemas.openxmlformats.org/drawingml/2006/main" noGrp="1"/>
          </p:cNvSpPr>
          <p:nvPr/>
        </p:nvSpPr>
        <p:spPr>
          <a:xfrm xmlns:a="http://schemas.openxmlformats.org/drawingml/2006/main">
            <a:off x="800100" y="5029200"/>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D4182F3-84F8-42D9-B343-5FB1EA995C89}"/>
              </a:ext>
            </a:extLst>
          </p:cNvPr>
          <p:cNvSpPr>
            <a:spLocks xmlns:a="http://schemas.openxmlformats.org/drawingml/2006/main" noGrp="1"/>
          </p:cNvSpPr>
          <p:nvPr/>
        </p:nvSpPr>
        <p:spPr>
          <a:xfrm xmlns:a="http://schemas.openxmlformats.org/drawingml/2006/main">
            <a:off x="819150" y="39624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Financial and maintenance tests</a:t>
            </a:r>
          </a:p>
        </p:txBody>
      </p:sp>
      <p:sp>
        <p:nvSpPr>
          <p:cNvPr id="15" name="">
            <a:extLst xmlns:a="http://schemas.openxmlformats.org/drawingml/2006/main">
              <a:ext uri="{FF2B5EF4-FFF2-40B4-BE49-F238E27FC236}">
                <a16:creationId xmlns:a16="http://schemas.microsoft.com/office/drawing/2014/main" id="{F6EE42CC-4EC5-4E35-8871-3C3F2E580F5D}"/>
              </a:ext>
            </a:extLst>
          </p:cNvPr>
          <p:cNvSpPr>
            <a:spLocks xmlns:a="http://schemas.openxmlformats.org/drawingml/2006/main" noGrp="1"/>
          </p:cNvSpPr>
          <p:nvPr/>
        </p:nvSpPr>
        <p:spPr>
          <a:xfrm xmlns:a="http://schemas.openxmlformats.org/drawingml/2006/main">
            <a:off x="4000500" y="39814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Check future dates, salvage floors, end-of-month dates, asset condition and overdue schedules.</a:t>
            </a:r>
          </a:p>
        </p:txBody>
      </p:sp>
      <p:sp>
        <p:nvSpPr>
          <p:cNvPr id="16" name="">
            <a:extLst xmlns:a="http://schemas.openxmlformats.org/drawingml/2006/main">
              <a:ext uri="{FF2B5EF4-FFF2-40B4-BE49-F238E27FC236}">
                <a16:creationId xmlns:a16="http://schemas.microsoft.com/office/drawing/2014/main" id="{8D5F2D94-2512-4E39-8D15-14CE5E55F566}"/>
              </a:ext>
            </a:extLst>
          </p:cNvPr>
          <p:cNvSpPr>
            <a:spLocks xmlns:a="http://schemas.openxmlformats.org/drawingml/2006/main" noGrp="1"/>
          </p:cNvSpPr>
          <p:nvPr/>
        </p:nvSpPr>
        <p:spPr>
          <a:xfrm xmlns:a="http://schemas.openxmlformats.org/drawingml/2006/main">
            <a:off x="819150" y="47434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Acceptance evidence</a:t>
            </a:r>
          </a:p>
        </p:txBody>
      </p:sp>
      <p:sp>
        <p:nvSpPr>
          <p:cNvPr id="17" name="">
            <a:extLst xmlns:a="http://schemas.openxmlformats.org/drawingml/2006/main">
              <a:ext uri="{FF2B5EF4-FFF2-40B4-BE49-F238E27FC236}">
                <a16:creationId xmlns:a16="http://schemas.microsoft.com/office/drawing/2014/main" id="{C29853AE-CAF9-43D5-BB23-D840C42770BE}"/>
              </a:ext>
            </a:extLst>
          </p:cNvPr>
          <p:cNvSpPr>
            <a:spLocks xmlns:a="http://schemas.openxmlformats.org/drawingml/2006/main" noGrp="1"/>
          </p:cNvSpPr>
          <p:nvPr/>
        </p:nvSpPr>
        <p:spPr>
          <a:xfrm xmlns:a="http://schemas.openxmlformats.org/drawingml/2006/main">
            <a:off x="6572250" y="2238375"/>
            <a:ext cx="4476750" cy="2000250"/>
          </a:xfrm>
          <a:prstGeom xmlns:a="http://schemas.openxmlformats.org/drawingml/2006/main" prst="roundRect">
            <a:avLst>
              <a:gd name="adj" fmla="val 6667"/>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4E871F-19ED-4CC5-B68D-E970FEA6537B}"/>
              </a:ext>
            </a:extLst>
          </p:cNvPr>
          <p:cNvSpPr>
            <a:spLocks xmlns:a="http://schemas.openxmlformats.org/drawingml/2006/main" noGrp="1"/>
          </p:cNvSpPr>
          <p:nvPr/>
        </p:nvSpPr>
        <p:spPr>
          <a:xfrm xmlns:a="http://schemas.openxmlformats.org/drawingml/2006/main">
            <a:off x="4000500" y="47625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Final deployment results and CloudWatch captures are pending confirmation.</a:t>
            </a:r>
          </a:p>
        </p:txBody>
      </p:sp>
      <p:sp>
        <p:nvSpPr>
          <p:cNvPr id="19" name="">
            <a:extLst xmlns:a="http://schemas.openxmlformats.org/drawingml/2006/main">
              <a:ext uri="{FF2B5EF4-FFF2-40B4-BE49-F238E27FC236}">
                <a16:creationId xmlns:a16="http://schemas.microsoft.com/office/drawing/2014/main" id="{9C6E6CFA-FC05-4A15-BCA5-CD1A86C852A9}"/>
              </a:ext>
            </a:extLst>
          </p:cNvPr>
          <p:cNvSpPr>
            <a:spLocks xmlns:a="http://schemas.openxmlformats.org/drawingml/2006/main" noGrp="1"/>
          </p:cNvSpPr>
          <p:nvPr/>
        </p:nvSpPr>
        <p:spPr>
          <a:xfrm xmlns:a="http://schemas.openxmlformats.org/drawingml/2006/main">
            <a:off x="819150" y="55245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Operational monitoring</a:t>
            </a:r>
          </a:p>
        </p:txBody>
      </p:sp>
      <p:sp>
        <p:nvSpPr>
          <p:cNvPr id="20" name="">
            <a:extLst xmlns:a="http://schemas.openxmlformats.org/drawingml/2006/main">
              <a:ext uri="{FF2B5EF4-FFF2-40B4-BE49-F238E27FC236}">
                <a16:creationId xmlns:a16="http://schemas.microsoft.com/office/drawing/2014/main" id="{C6B94624-7B3F-463A-B6DB-625E70E2C0B8}"/>
              </a:ext>
            </a:extLst>
          </p:cNvPr>
          <p:cNvSpPr>
            <a:spLocks xmlns:a="http://schemas.openxmlformats.org/drawingml/2006/main" noGrp="1"/>
          </p:cNvSpPr>
          <p:nvPr/>
        </p:nvSpPr>
        <p:spPr>
          <a:xfrm xmlns:a="http://schemas.openxmlformats.org/drawingml/2006/main">
            <a:off x="4000500" y="55435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Lambda logs and CloudWatch alarms support troubleshooting. Scheduler logs and SNS email demonstrate notifications.</a:t>
            </a:r>
          </a:p>
        </p:txBody>
      </p:sp>
      <p:sp>
        <p:nvSpPr>
          <p:cNvPr id="21" name="">
            <a:extLst xmlns:a="http://schemas.openxmlformats.org/drawingml/2006/main">
              <a:ext uri="{FF2B5EF4-FFF2-40B4-BE49-F238E27FC236}">
                <a16:creationId xmlns:a16="http://schemas.microsoft.com/office/drawing/2014/main" id="{23E99D78-ADA3-43FE-B449-2BEDD2594DCA}"/>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AWS Smart Asset Lifecycle Tracker  |  Week 4</a:t>
            </a:r>
          </a:p>
        </p:txBody>
      </p:sp>
      <p:sp>
        <p:nvSpPr>
          <p:cNvPr id="22" name="">
            <a:extLst xmlns:a="http://schemas.openxmlformats.org/drawingml/2006/main">
              <a:ext uri="{FF2B5EF4-FFF2-40B4-BE49-F238E27FC236}">
                <a16:creationId xmlns:a16="http://schemas.microsoft.com/office/drawing/2014/main" id="{D3BA4B1F-0E9E-4A5B-9FC2-CE33ED3ED204}"/>
              </a:ext>
            </a:extLst>
          </p:cNvPr>
          <p:cNvSpPr>
            <a:spLocks xmlns:a="http://schemas.openxmlformats.org/drawingml/2006/main" noGrp="1"/>
          </p:cNvSpPr>
          <p:nvPr/>
        </p:nvSpPr>
        <p:spPr>
          <a:xfrm xmlns:a="http://schemas.openxmlformats.org/drawingml/2006/main">
            <a:off x="108394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07</a:t>
            </a:r>
          </a:p>
        </p:txBody>
      </p:sp>
    </p:spTree>
    <p:extLst>
      <p:ext uri="{BB962C8B-B14F-4D97-AF65-F5344CB8AC3E}">
        <p14:creationId xmlns:p14="http://schemas.microsoft.com/office/powerpoint/2010/main" val="16962868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62E6CFC-9D76-4816-B3FC-980BA819AC1F}"/>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550" b="1">
                <a:solidFill>
                  <a:srgbClr val="102A43"/>
                </a:solidFill>
                <a:latin typeface="DejaVu Serif"/>
                <a:ea typeface="DejaVu Serif"/>
                <a:cs typeface="DejaVu Serif"/>
              </a:defRPr>
            </a:pPr>
            <a:r>
              <a:rPr sz="2550" b="1">
                <a:solidFill>
                  <a:srgbClr val="102A43"/>
                </a:solidFill>
                <a:latin typeface="DejaVu Serif"/>
                <a:ea typeface="DejaVu Serif"/>
                <a:cs typeface="DejaVu Serif"/>
              </a:rPr>
              <a:t>Deployment and AWS cost</a:t>
            </a:r>
          </a:p>
        </p:txBody>
      </p:sp>
      <p:sp>
        <p:nvSpPr>
          <p:cNvPr id="2" name="">
            <a:extLst xmlns:a="http://schemas.openxmlformats.org/drawingml/2006/main">
              <a:ext uri="{FF2B5EF4-FFF2-40B4-BE49-F238E27FC236}">
                <a16:creationId xmlns:a16="http://schemas.microsoft.com/office/drawing/2014/main" id="{72C97721-C496-42FC-8AAB-97DA20165E08}"/>
              </a:ext>
            </a:extLst>
          </p:cNvPr>
          <p:cNvSpPr>
            <a:spLocks xmlns:a="http://schemas.openxmlformats.org/drawingml/2006/main" noGrp="1"/>
          </p:cNvSpPr>
          <p:nvPr/>
        </p:nvSpPr>
        <p:spPr>
          <a:xfrm xmlns:a="http://schemas.openxmlformats.org/drawingml/2006/main">
            <a:off x="704850" y="9525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Infrastructure as Code and documented assumptions support reproducible deployment</a:t>
            </a:r>
          </a:p>
        </p:txBody>
      </p:sp>
      <p:sp>
        <p:nvSpPr>
          <p:cNvPr id="3" name="">
            <a:extLst xmlns:a="http://schemas.openxmlformats.org/drawingml/2006/main">
              <a:ext uri="{FF2B5EF4-FFF2-40B4-BE49-F238E27FC236}">
                <a16:creationId xmlns:a16="http://schemas.microsoft.com/office/drawing/2014/main" id="{E81242A3-1747-4EE6-AFBB-7190C904DE40}"/>
              </a:ext>
            </a:extLst>
          </p:cNvPr>
          <p:cNvSpPr>
            <a:spLocks xmlns:a="http://schemas.openxmlformats.org/drawingml/2006/main" noGrp="1"/>
          </p:cNvSpPr>
          <p:nvPr/>
        </p:nvSpPr>
        <p:spPr>
          <a:xfrm xmlns:a="http://schemas.openxmlformats.org/drawingml/2006/main">
            <a:off x="685800" y="1314450"/>
            <a:ext cx="10820400" cy="28575"/>
          </a:xfrm>
          <a:prstGeom xmlns:a="http://schemas.openxmlformats.org/drawingml/2006/main" prst="rect">
            <a:avLst/>
          </a:prstGeom>
          <a:solidFill xmlns:a="http://schemas.openxmlformats.org/drawingml/2006/main">
            <a:srgbClr val="146C9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0731CD2-DF2E-48D9-83E6-9F6BA35DFCB2}"/>
              </a:ext>
            </a:extLst>
          </p:cNvPr>
          <p:cNvSpPr>
            <a:spLocks xmlns:a="http://schemas.openxmlformats.org/drawingml/2006/main" noGrp="1"/>
          </p:cNvSpPr>
          <p:nvPr/>
        </p:nvSpPr>
        <p:spPr>
          <a:xfrm xmlns:a="http://schemas.openxmlformats.org/drawingml/2006/main">
            <a:off x="800100" y="1743075"/>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BFADE2C-7C62-4F02-BD82-C2DED6F008F1}"/>
              </a:ext>
            </a:extLst>
          </p:cNvPr>
          <p:cNvSpPr>
            <a:spLocks xmlns:a="http://schemas.openxmlformats.org/drawingml/2006/main" noGrp="1"/>
          </p:cNvSpPr>
          <p:nvPr/>
        </p:nvSpPr>
        <p:spPr>
          <a:xfrm xmlns:a="http://schemas.openxmlformats.org/drawingml/2006/main">
            <a:off x="819150" y="16192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Infrastructure as Code</a:t>
            </a:r>
          </a:p>
        </p:txBody>
      </p:sp>
      <p:sp>
        <p:nvSpPr>
          <p:cNvPr id="6" name="">
            <a:extLst xmlns:a="http://schemas.openxmlformats.org/drawingml/2006/main">
              <a:ext uri="{FF2B5EF4-FFF2-40B4-BE49-F238E27FC236}">
                <a16:creationId xmlns:a16="http://schemas.microsoft.com/office/drawing/2014/main" id="{782B8579-3EC3-40A7-B09F-0E0433176F62}"/>
              </a:ext>
            </a:extLst>
          </p:cNvPr>
          <p:cNvSpPr>
            <a:spLocks xmlns:a="http://schemas.openxmlformats.org/drawingml/2006/main" noGrp="1"/>
          </p:cNvSpPr>
          <p:nvPr/>
        </p:nvSpPr>
        <p:spPr>
          <a:xfrm xmlns:a="http://schemas.openxmlformats.org/drawingml/2006/main">
            <a:off x="4000500" y="16383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AWS SAM defines the backend resources. Deployment documentation records environment settings.</a:t>
            </a:r>
          </a:p>
        </p:txBody>
      </p:sp>
      <p:sp>
        <p:nvSpPr>
          <p:cNvPr id="7" name="">
            <a:extLst xmlns:a="http://schemas.openxmlformats.org/drawingml/2006/main">
              <a:ext uri="{FF2B5EF4-FFF2-40B4-BE49-F238E27FC236}">
                <a16:creationId xmlns:a16="http://schemas.microsoft.com/office/drawing/2014/main" id="{04C60AE9-4D51-4E84-9C0E-65ECE3D0BDF4}"/>
              </a:ext>
            </a:extLst>
          </p:cNvPr>
          <p:cNvSpPr>
            <a:spLocks xmlns:a="http://schemas.openxmlformats.org/drawingml/2006/main" noGrp="1"/>
          </p:cNvSpPr>
          <p:nvPr/>
        </p:nvSpPr>
        <p:spPr>
          <a:xfrm xmlns:a="http://schemas.openxmlformats.org/drawingml/2006/main">
            <a:off x="800100" y="2838450"/>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2DE4D3E-B5B5-4691-9BB2-E487356475CB}"/>
              </a:ext>
            </a:extLst>
          </p:cNvPr>
          <p:cNvSpPr>
            <a:spLocks xmlns:a="http://schemas.openxmlformats.org/drawingml/2006/main" noGrp="1"/>
          </p:cNvSpPr>
          <p:nvPr/>
        </p:nvSpPr>
        <p:spPr>
          <a:xfrm xmlns:a="http://schemas.openxmlformats.org/drawingml/2006/main">
            <a:off x="819150" y="24003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Build and delivery</a:t>
            </a:r>
          </a:p>
        </p:txBody>
      </p:sp>
      <p:sp>
        <p:nvSpPr>
          <p:cNvPr id="9" name="">
            <a:extLst xmlns:a="http://schemas.openxmlformats.org/drawingml/2006/main">
              <a:ext uri="{FF2B5EF4-FFF2-40B4-BE49-F238E27FC236}">
                <a16:creationId xmlns:a16="http://schemas.microsoft.com/office/drawing/2014/main" id="{08E1883D-4C55-43D2-906B-498429814BBF}"/>
              </a:ext>
            </a:extLst>
          </p:cNvPr>
          <p:cNvSpPr>
            <a:spLocks xmlns:a="http://schemas.openxmlformats.org/drawingml/2006/main" noGrp="1"/>
          </p:cNvSpPr>
          <p:nvPr/>
        </p:nvSpPr>
        <p:spPr>
          <a:xfrm xmlns:a="http://schemas.openxmlformats.org/drawingml/2006/main">
            <a:off x="4000500" y="24193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Git-based review and CI checks support delivery of the API and React frontend.</a:t>
            </a:r>
          </a:p>
        </p:txBody>
      </p:sp>
      <p:sp>
        <p:nvSpPr>
          <p:cNvPr id="10" name="">
            <a:extLst xmlns:a="http://schemas.openxmlformats.org/drawingml/2006/main">
              <a:ext uri="{FF2B5EF4-FFF2-40B4-BE49-F238E27FC236}">
                <a16:creationId xmlns:a16="http://schemas.microsoft.com/office/drawing/2014/main" id="{3EF45317-1322-49B0-96AF-838B99EA4E86}"/>
              </a:ext>
            </a:extLst>
          </p:cNvPr>
          <p:cNvSpPr>
            <a:spLocks xmlns:a="http://schemas.openxmlformats.org/drawingml/2006/main" noGrp="1"/>
          </p:cNvSpPr>
          <p:nvPr/>
        </p:nvSpPr>
        <p:spPr>
          <a:xfrm xmlns:a="http://schemas.openxmlformats.org/drawingml/2006/main">
            <a:off x="800100" y="3933825"/>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80A5B36-4F59-4A1D-95A7-531038C62B7B}"/>
              </a:ext>
            </a:extLst>
          </p:cNvPr>
          <p:cNvSpPr>
            <a:spLocks xmlns:a="http://schemas.openxmlformats.org/drawingml/2006/main" noGrp="1"/>
          </p:cNvSpPr>
          <p:nvPr/>
        </p:nvSpPr>
        <p:spPr>
          <a:xfrm xmlns:a="http://schemas.openxmlformats.org/drawingml/2006/main">
            <a:off x="819150" y="31813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Usage assumptions</a:t>
            </a:r>
          </a:p>
        </p:txBody>
      </p:sp>
      <p:sp>
        <p:nvSpPr>
          <p:cNvPr id="12" name="">
            <a:extLst xmlns:a="http://schemas.openxmlformats.org/drawingml/2006/main">
              <a:ext uri="{FF2B5EF4-FFF2-40B4-BE49-F238E27FC236}">
                <a16:creationId xmlns:a16="http://schemas.microsoft.com/office/drawing/2014/main" id="{310134EA-E558-4C58-8716-8DD82C464982}"/>
              </a:ext>
            </a:extLst>
          </p:cNvPr>
          <p:cNvSpPr>
            <a:spLocks xmlns:a="http://schemas.openxmlformats.org/drawingml/2006/main" noGrp="1"/>
          </p:cNvSpPr>
          <p:nvPr/>
        </p:nvSpPr>
        <p:spPr>
          <a:xfrm xmlns:a="http://schemas.openxmlformats.org/drawingml/2006/main">
            <a:off x="4000500" y="32004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One assumed development environment in us-east-1. EventBridge remains a planned allowance in the cost guide.</a:t>
            </a:r>
          </a:p>
        </p:txBody>
      </p:sp>
      <p:sp>
        <p:nvSpPr>
          <p:cNvPr id="13" name="">
            <a:extLst xmlns:a="http://schemas.openxmlformats.org/drawingml/2006/main">
              <a:ext uri="{FF2B5EF4-FFF2-40B4-BE49-F238E27FC236}">
                <a16:creationId xmlns:a16="http://schemas.microsoft.com/office/drawing/2014/main" id="{D6E63163-F5C8-48D9-8E9E-DE6A2E6645F7}"/>
              </a:ext>
            </a:extLst>
          </p:cNvPr>
          <p:cNvSpPr>
            <a:spLocks xmlns:a="http://schemas.openxmlformats.org/drawingml/2006/main" noGrp="1"/>
          </p:cNvSpPr>
          <p:nvPr/>
        </p:nvSpPr>
        <p:spPr>
          <a:xfrm xmlns:a="http://schemas.openxmlformats.org/drawingml/2006/main">
            <a:off x="800100" y="5029200"/>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D4182F3-84F8-42D9-B343-5FB1EA995C89}"/>
              </a:ext>
            </a:extLst>
          </p:cNvPr>
          <p:cNvSpPr>
            <a:spLocks xmlns:a="http://schemas.openxmlformats.org/drawingml/2006/main" noGrp="1"/>
          </p:cNvSpPr>
          <p:nvPr/>
        </p:nvSpPr>
        <p:spPr>
          <a:xfrm xmlns:a="http://schemas.openxmlformats.org/drawingml/2006/main">
            <a:off x="819150" y="39624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Cost monitoring and cleanup</a:t>
            </a:r>
          </a:p>
        </p:txBody>
      </p:sp>
      <p:sp>
        <p:nvSpPr>
          <p:cNvPr id="15" name="">
            <a:extLst xmlns:a="http://schemas.openxmlformats.org/drawingml/2006/main">
              <a:ext uri="{FF2B5EF4-FFF2-40B4-BE49-F238E27FC236}">
                <a16:creationId xmlns:a16="http://schemas.microsoft.com/office/drawing/2014/main" id="{F6EE42CC-4EC5-4E35-8871-3C3F2E580F5D}"/>
              </a:ext>
            </a:extLst>
          </p:cNvPr>
          <p:cNvSpPr>
            <a:spLocks xmlns:a="http://schemas.openxmlformats.org/drawingml/2006/main" noGrp="1"/>
          </p:cNvSpPr>
          <p:nvPr/>
        </p:nvSpPr>
        <p:spPr>
          <a:xfrm xmlns:a="http://schemas.openxmlformats.org/drawingml/2006/main">
            <a:off x="4000500" y="39814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The guide proposes a $10/month budget and a cleanup plan for retained and externally managed resources.</a:t>
            </a:r>
          </a:p>
        </p:txBody>
      </p:sp>
      <p:sp>
        <p:nvSpPr>
          <p:cNvPr id="16" name="">
            <a:extLst xmlns:a="http://schemas.openxmlformats.org/drawingml/2006/main">
              <a:ext uri="{FF2B5EF4-FFF2-40B4-BE49-F238E27FC236}">
                <a16:creationId xmlns:a16="http://schemas.microsoft.com/office/drawing/2014/main" id="{8D5F2D94-2512-4E39-8D15-14CE5E55F566}"/>
              </a:ext>
            </a:extLst>
          </p:cNvPr>
          <p:cNvSpPr>
            <a:spLocks xmlns:a="http://schemas.openxmlformats.org/drawingml/2006/main" noGrp="1"/>
          </p:cNvSpPr>
          <p:nvPr/>
        </p:nvSpPr>
        <p:spPr>
          <a:xfrm xmlns:a="http://schemas.openxmlformats.org/drawingml/2006/main">
            <a:off x="819150" y="47434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Estimated operating cost</a:t>
            </a:r>
          </a:p>
        </p:txBody>
      </p:sp>
      <p:sp>
        <p:nvSpPr>
          <p:cNvPr id="17" name="">
            <a:extLst xmlns:a="http://schemas.openxmlformats.org/drawingml/2006/main">
              <a:ext uri="{FF2B5EF4-FFF2-40B4-BE49-F238E27FC236}">
                <a16:creationId xmlns:a16="http://schemas.microsoft.com/office/drawing/2014/main" id="{C29853AE-CAF9-43D5-BB23-D840C42770BE}"/>
              </a:ext>
            </a:extLst>
          </p:cNvPr>
          <p:cNvSpPr>
            <a:spLocks xmlns:a="http://schemas.openxmlformats.org/drawingml/2006/main" noGrp="1"/>
          </p:cNvSpPr>
          <p:nvPr/>
        </p:nvSpPr>
        <p:spPr>
          <a:xfrm xmlns:a="http://schemas.openxmlformats.org/drawingml/2006/main">
            <a:off x="6572250" y="2238375"/>
            <a:ext cx="4476750" cy="2000250"/>
          </a:xfrm>
          <a:prstGeom xmlns:a="http://schemas.openxmlformats.org/drawingml/2006/main" prst="roundRect">
            <a:avLst>
              <a:gd name="adj" fmla="val 6667"/>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4E871F-19ED-4CC5-B68D-E970FEA6537B}"/>
              </a:ext>
            </a:extLst>
          </p:cNvPr>
          <p:cNvSpPr>
            <a:spLocks xmlns:a="http://schemas.openxmlformats.org/drawingml/2006/main" noGrp="1"/>
          </p:cNvSpPr>
          <p:nvPr/>
        </p:nvSpPr>
        <p:spPr>
          <a:xfrm xmlns:a="http://schemas.openxmlformats.org/drawingml/2006/main">
            <a:off x="4000500" y="47625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$3.55 per month</a:t>
            </a:r>
          </a:p>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$42.60 per year</a:t>
            </a:r>
          </a:p>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$0.00 upfront</a:t>
            </a:r>
          </a:p>
        </p:txBody>
      </p:sp>
      <p:sp>
        <p:nvSpPr>
          <p:cNvPr id="19" name="">
            <a:extLst xmlns:a="http://schemas.openxmlformats.org/drawingml/2006/main">
              <a:ext uri="{FF2B5EF4-FFF2-40B4-BE49-F238E27FC236}">
                <a16:creationId xmlns:a16="http://schemas.microsoft.com/office/drawing/2014/main" id="{9C6E6CFA-FC05-4A15-BCA5-CD1A86C852A9}"/>
              </a:ext>
            </a:extLst>
          </p:cNvPr>
          <p:cNvSpPr>
            <a:spLocks xmlns:a="http://schemas.openxmlformats.org/drawingml/2006/main" noGrp="1"/>
          </p:cNvSpPr>
          <p:nvPr/>
        </p:nvSpPr>
        <p:spPr>
          <a:xfrm xmlns:a="http://schemas.openxmlformats.org/drawingml/2006/main">
            <a:off x="819150" y="55245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Estimate dated 4 October 2026</a:t>
            </a:r>
          </a:p>
        </p:txBody>
      </p:sp>
      <p:sp>
        <p:nvSpPr>
          <p:cNvPr id="20" name="">
            <a:extLst xmlns:a="http://schemas.openxmlformats.org/drawingml/2006/main">
              <a:ext uri="{FF2B5EF4-FFF2-40B4-BE49-F238E27FC236}">
                <a16:creationId xmlns:a16="http://schemas.microsoft.com/office/drawing/2014/main" id="{C6B94624-7B3F-463A-B6DB-625E70E2C0B8}"/>
              </a:ext>
            </a:extLst>
          </p:cNvPr>
          <p:cNvSpPr>
            <a:spLocks xmlns:a="http://schemas.openxmlformats.org/drawingml/2006/main" noGrp="1"/>
          </p:cNvSpPr>
          <p:nvPr/>
        </p:nvSpPr>
        <p:spPr>
          <a:xfrm xmlns:a="http://schemas.openxmlformats.org/drawingml/2006/main">
            <a:off x="4000500" y="55435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Approximately $0.12 per day. Includes three CloudWatch alarms, Amplify hosting and X-Ray tracing.</a:t>
            </a:r>
          </a:p>
        </p:txBody>
      </p:sp>
      <p:sp>
        <p:nvSpPr>
          <p:cNvPr id="21" name="">
            <a:extLst xmlns:a="http://schemas.openxmlformats.org/drawingml/2006/main">
              <a:ext uri="{FF2B5EF4-FFF2-40B4-BE49-F238E27FC236}">
                <a16:creationId xmlns:a16="http://schemas.microsoft.com/office/drawing/2014/main" id="{23E99D78-ADA3-43FE-B449-2BEDD2594DCA}"/>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AWS Smart Asset Lifecycle Tracker  |  Week 4</a:t>
            </a:r>
          </a:p>
        </p:txBody>
      </p:sp>
      <p:sp>
        <p:nvSpPr>
          <p:cNvPr id="22" name="">
            <a:extLst xmlns:a="http://schemas.openxmlformats.org/drawingml/2006/main">
              <a:ext uri="{FF2B5EF4-FFF2-40B4-BE49-F238E27FC236}">
                <a16:creationId xmlns:a16="http://schemas.microsoft.com/office/drawing/2014/main" id="{D3BA4B1F-0E9E-4A5B-9FC2-CE33ED3ED204}"/>
              </a:ext>
            </a:extLst>
          </p:cNvPr>
          <p:cNvSpPr>
            <a:spLocks xmlns:a="http://schemas.openxmlformats.org/drawingml/2006/main" noGrp="1"/>
          </p:cNvSpPr>
          <p:nvPr/>
        </p:nvSpPr>
        <p:spPr>
          <a:xfrm xmlns:a="http://schemas.openxmlformats.org/drawingml/2006/main">
            <a:off x="108394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08</a:t>
            </a:r>
          </a:p>
        </p:txBody>
      </p:sp>
    </p:spTree>
    <p:extLst>
      <p:ext uri="{BB962C8B-B14F-4D97-AF65-F5344CB8AC3E}">
        <p14:creationId xmlns:p14="http://schemas.microsoft.com/office/powerpoint/2010/main" val="16962868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2013AB7-D327-47A2-803F-42458676F1DC}"/>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550" b="1">
                <a:solidFill>
                  <a:srgbClr val="102A43"/>
                </a:solidFill>
                <a:latin typeface="DejaVu Serif"/>
                <a:ea typeface="DejaVu Serif"/>
                <a:cs typeface="DejaVu Serif"/>
              </a:defRPr>
            </a:pPr>
            <a:r>
              <a:rPr sz="2550" b="1">
                <a:solidFill>
                  <a:srgbClr val="102A43"/>
                </a:solidFill>
                <a:latin typeface="DejaVu Serif"/>
                <a:ea typeface="DejaVu Serif"/>
                <a:cs typeface="DejaVu Serif"/>
              </a:rPr>
              <a:t>Team contributions and lessons learned</a:t>
            </a:r>
          </a:p>
        </p:txBody>
      </p:sp>
      <p:sp>
        <p:nvSpPr>
          <p:cNvPr id="2" name="">
            <a:extLst xmlns:a="http://schemas.openxmlformats.org/drawingml/2006/main">
              <a:ext uri="{FF2B5EF4-FFF2-40B4-BE49-F238E27FC236}">
                <a16:creationId xmlns:a16="http://schemas.microsoft.com/office/drawing/2014/main" id="{C1E1590E-4D74-4448-B7EE-1C427C2FDECB}"/>
              </a:ext>
            </a:extLst>
          </p:cNvPr>
          <p:cNvSpPr>
            <a:spLocks xmlns:a="http://schemas.openxmlformats.org/drawingml/2006/main" noGrp="1"/>
          </p:cNvSpPr>
          <p:nvPr/>
        </p:nvSpPr>
        <p:spPr>
          <a:xfrm xmlns:a="http://schemas.openxmlformats.org/drawingml/2006/main">
            <a:off x="704850" y="9525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Six team members collaborated through Git-based development, review and documentation</a:t>
            </a:r>
          </a:p>
        </p:txBody>
      </p:sp>
      <p:sp>
        <p:nvSpPr>
          <p:cNvPr id="3" name="">
            <a:extLst xmlns:a="http://schemas.openxmlformats.org/drawingml/2006/main">
              <a:ext uri="{FF2B5EF4-FFF2-40B4-BE49-F238E27FC236}">
                <a16:creationId xmlns:a16="http://schemas.microsoft.com/office/drawing/2014/main" id="{679C8370-CC41-4953-8F6D-F8C7BBDA7C51}"/>
              </a:ext>
            </a:extLst>
          </p:cNvPr>
          <p:cNvSpPr>
            <a:spLocks xmlns:a="http://schemas.openxmlformats.org/drawingml/2006/main" noGrp="1"/>
          </p:cNvSpPr>
          <p:nvPr/>
        </p:nvSpPr>
        <p:spPr>
          <a:xfrm xmlns:a="http://schemas.openxmlformats.org/drawingml/2006/main">
            <a:off x="685800" y="1314450"/>
            <a:ext cx="10820400" cy="28575"/>
          </a:xfrm>
          <a:prstGeom xmlns:a="http://schemas.openxmlformats.org/drawingml/2006/main" prst="rect">
            <a:avLst/>
          </a:prstGeom>
          <a:solidFill xmlns:a="http://schemas.openxmlformats.org/drawingml/2006/main">
            <a:srgbClr val="146C9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5AEF9BB-26A0-4F46-A1D2-F4FB6AEC7C95}"/>
              </a:ext>
            </a:extLst>
          </p:cNvPr>
          <p:cNvSpPr>
            <a:spLocks xmlns:a="http://schemas.openxmlformats.org/drawingml/2006/main" noGrp="1"/>
          </p:cNvSpPr>
          <p:nvPr/>
        </p:nvSpPr>
        <p:spPr>
          <a:xfrm xmlns:a="http://schemas.openxmlformats.org/drawingml/2006/main">
            <a:off x="819150" y="16192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650" b="1">
                <a:solidFill>
                  <a:srgbClr val="2E7D5B"/>
                </a:solidFill>
                <a:latin typeface="DejaVu Serif"/>
                <a:ea typeface="DejaVu Serif"/>
                <a:cs typeface="DejaVu Serif"/>
              </a:defRPr>
            </a:pPr>
            <a:r>
              <a:rPr sz="1650" b="1">
                <a:solidFill>
                  <a:srgbClr val="2E7D5B"/>
                </a:solidFill>
                <a:latin typeface="DejaVu Serif"/>
                <a:ea typeface="DejaVu Serif"/>
                <a:cs typeface="DejaVu Serif"/>
              </a:rPr>
              <a:t>Ashok Hota</a:t>
            </a:r>
          </a:p>
        </p:txBody>
      </p:sp>
      <p:sp>
        <p:nvSpPr>
          <p:cNvPr id="5" name="">
            <a:extLst xmlns:a="http://schemas.openxmlformats.org/drawingml/2006/main">
              <a:ext uri="{FF2B5EF4-FFF2-40B4-BE49-F238E27FC236}">
                <a16:creationId xmlns:a16="http://schemas.microsoft.com/office/drawing/2014/main" id="{60D9E694-2F3D-4C58-BF87-B7BEEF5966A8}"/>
              </a:ext>
            </a:extLst>
          </p:cNvPr>
          <p:cNvSpPr>
            <a:spLocks xmlns:a="http://schemas.openxmlformats.org/drawingml/2006/main" noGrp="1"/>
          </p:cNvSpPr>
          <p:nvPr/>
        </p:nvSpPr>
        <p:spPr>
          <a:xfrm xmlns:a="http://schemas.openxmlformats.org/drawingml/2006/main">
            <a:off x="4286250" y="1647825"/>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Contribution to be confirmed</a:t>
            </a:r>
          </a:p>
        </p:txBody>
      </p:sp>
      <p:sp>
        <p:nvSpPr>
          <p:cNvPr id="6" name="">
            <a:extLst xmlns:a="http://schemas.openxmlformats.org/drawingml/2006/main">
              <a:ext uri="{FF2B5EF4-FFF2-40B4-BE49-F238E27FC236}">
                <a16:creationId xmlns:a16="http://schemas.microsoft.com/office/drawing/2014/main" id="{D08F34AC-9815-4C1E-B3ED-4BAB29D0A4CF}"/>
              </a:ext>
            </a:extLst>
          </p:cNvPr>
          <p:cNvSpPr>
            <a:spLocks xmlns:a="http://schemas.openxmlformats.org/drawingml/2006/main" noGrp="1"/>
          </p:cNvSpPr>
          <p:nvPr/>
        </p:nvSpPr>
        <p:spPr>
          <a:xfrm xmlns:a="http://schemas.openxmlformats.org/drawingml/2006/main">
            <a:off x="819150" y="20859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650" b="1">
                <a:solidFill>
                  <a:srgbClr val="146C94"/>
                </a:solidFill>
                <a:latin typeface="DejaVu Serif"/>
                <a:ea typeface="DejaVu Serif"/>
                <a:cs typeface="DejaVu Serif"/>
              </a:defRPr>
            </a:pPr>
            <a:r>
              <a:rPr sz="1650" b="1">
                <a:solidFill>
                  <a:srgbClr val="146C94"/>
                </a:solidFill>
                <a:latin typeface="DejaVu Serif"/>
                <a:ea typeface="DejaVu Serif"/>
                <a:cs typeface="DejaVu Serif"/>
              </a:rPr>
              <a:t>Ema Sena</a:t>
            </a:r>
          </a:p>
        </p:txBody>
      </p:sp>
      <p:sp>
        <p:nvSpPr>
          <p:cNvPr id="7" name="">
            <a:extLst xmlns:a="http://schemas.openxmlformats.org/drawingml/2006/main">
              <a:ext uri="{FF2B5EF4-FFF2-40B4-BE49-F238E27FC236}">
                <a16:creationId xmlns:a16="http://schemas.microsoft.com/office/drawing/2014/main" id="{BD058715-66FE-4255-91BA-80E2CEB08E7F}"/>
              </a:ext>
            </a:extLst>
          </p:cNvPr>
          <p:cNvSpPr>
            <a:spLocks xmlns:a="http://schemas.openxmlformats.org/drawingml/2006/main" noGrp="1"/>
          </p:cNvSpPr>
          <p:nvPr/>
        </p:nvSpPr>
        <p:spPr>
          <a:xfrm xmlns:a="http://schemas.openxmlformats.org/drawingml/2006/main">
            <a:off x="4286250" y="211455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AI photo workflow and Amplify</a:t>
            </a:r>
          </a:p>
        </p:txBody>
      </p:sp>
      <p:sp>
        <p:nvSpPr>
          <p:cNvPr id="8" name="">
            <a:extLst xmlns:a="http://schemas.openxmlformats.org/drawingml/2006/main">
              <a:ext uri="{FF2B5EF4-FFF2-40B4-BE49-F238E27FC236}">
                <a16:creationId xmlns:a16="http://schemas.microsoft.com/office/drawing/2014/main" id="{2ACE5045-F37F-4CB8-9B44-9103BE408AF6}"/>
              </a:ext>
            </a:extLst>
          </p:cNvPr>
          <p:cNvSpPr>
            <a:spLocks xmlns:a="http://schemas.openxmlformats.org/drawingml/2006/main" noGrp="1"/>
          </p:cNvSpPr>
          <p:nvPr/>
        </p:nvSpPr>
        <p:spPr>
          <a:xfrm xmlns:a="http://schemas.openxmlformats.org/drawingml/2006/main">
            <a:off x="819150" y="25527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650" b="1">
                <a:solidFill>
                  <a:srgbClr val="287F76"/>
                </a:solidFill>
                <a:latin typeface="DejaVu Serif"/>
                <a:ea typeface="DejaVu Serif"/>
                <a:cs typeface="DejaVu Serif"/>
              </a:defRPr>
            </a:pPr>
            <a:r>
              <a:rPr sz="1650" b="1">
                <a:solidFill>
                  <a:srgbClr val="287F76"/>
                </a:solidFill>
                <a:latin typeface="DejaVu Serif"/>
                <a:ea typeface="DejaVu Serif"/>
                <a:cs typeface="DejaVu Serif"/>
              </a:rPr>
              <a:t>Gergely Pankucsi</a:t>
            </a:r>
          </a:p>
        </p:txBody>
      </p:sp>
      <p:sp>
        <p:nvSpPr>
          <p:cNvPr id="9" name="">
            <a:extLst xmlns:a="http://schemas.openxmlformats.org/drawingml/2006/main">
              <a:ext uri="{FF2B5EF4-FFF2-40B4-BE49-F238E27FC236}">
                <a16:creationId xmlns:a16="http://schemas.microsoft.com/office/drawing/2014/main" id="{F60F7CBB-E19C-4749-8FAA-C4596F6DB76C}"/>
              </a:ext>
            </a:extLst>
          </p:cNvPr>
          <p:cNvSpPr>
            <a:spLocks xmlns:a="http://schemas.openxmlformats.org/drawingml/2006/main" noGrp="1"/>
          </p:cNvSpPr>
          <p:nvPr/>
        </p:nvSpPr>
        <p:spPr>
          <a:xfrm xmlns:a="http://schemas.openxmlformats.org/drawingml/2006/main">
            <a:off x="4286250" y="2581275"/>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Contribution to be confirmed</a:t>
            </a:r>
          </a:p>
        </p:txBody>
      </p:sp>
      <p:sp>
        <p:nvSpPr>
          <p:cNvPr id="10" name="">
            <a:extLst xmlns:a="http://schemas.openxmlformats.org/drawingml/2006/main">
              <a:ext uri="{FF2B5EF4-FFF2-40B4-BE49-F238E27FC236}">
                <a16:creationId xmlns:a16="http://schemas.microsoft.com/office/drawing/2014/main" id="{1BD946C6-C53C-4D0D-AAD8-B87EA733FAC3}"/>
              </a:ext>
            </a:extLst>
          </p:cNvPr>
          <p:cNvSpPr>
            <a:spLocks xmlns:a="http://schemas.openxmlformats.org/drawingml/2006/main" noGrp="1"/>
          </p:cNvSpPr>
          <p:nvPr/>
        </p:nvSpPr>
        <p:spPr>
          <a:xfrm xmlns:a="http://schemas.openxmlformats.org/drawingml/2006/main">
            <a:off x="819150" y="30194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650" b="1">
                <a:solidFill>
                  <a:srgbClr val="A66717"/>
                </a:solidFill>
                <a:latin typeface="DejaVu Serif"/>
                <a:ea typeface="DejaVu Serif"/>
                <a:cs typeface="DejaVu Serif"/>
              </a:defRPr>
            </a:pPr>
            <a:r>
              <a:rPr sz="1650" b="1">
                <a:solidFill>
                  <a:srgbClr val="A66717"/>
                </a:solidFill>
                <a:latin typeface="DejaVu Serif"/>
                <a:ea typeface="DejaVu Serif"/>
                <a:cs typeface="DejaVu Serif"/>
              </a:rPr>
              <a:t>Giovanni Pellizzoni</a:t>
            </a:r>
          </a:p>
        </p:txBody>
      </p:sp>
      <p:sp>
        <p:nvSpPr>
          <p:cNvPr id="11" name="">
            <a:extLst xmlns:a="http://schemas.openxmlformats.org/drawingml/2006/main">
              <a:ext uri="{FF2B5EF4-FFF2-40B4-BE49-F238E27FC236}">
                <a16:creationId xmlns:a16="http://schemas.microsoft.com/office/drawing/2014/main" id="{6EA3E827-D876-442A-88A8-D06D8A4B0F5F}"/>
              </a:ext>
            </a:extLst>
          </p:cNvPr>
          <p:cNvSpPr>
            <a:spLocks xmlns:a="http://schemas.openxmlformats.org/drawingml/2006/main" noGrp="1"/>
          </p:cNvSpPr>
          <p:nvPr/>
        </p:nvSpPr>
        <p:spPr>
          <a:xfrm xmlns:a="http://schemas.openxmlformats.org/drawingml/2006/main">
            <a:off x="4286250" y="304800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Backend and infrastructure updates</a:t>
            </a:r>
          </a:p>
        </p:txBody>
      </p:sp>
      <p:sp>
        <p:nvSpPr>
          <p:cNvPr id="12" name="">
            <a:extLst xmlns:a="http://schemas.openxmlformats.org/drawingml/2006/main">
              <a:ext uri="{FF2B5EF4-FFF2-40B4-BE49-F238E27FC236}">
                <a16:creationId xmlns:a16="http://schemas.microsoft.com/office/drawing/2014/main" id="{53F56DF7-B41E-4A6C-B7D8-CC0D206EF4EF}"/>
              </a:ext>
            </a:extLst>
          </p:cNvPr>
          <p:cNvSpPr>
            <a:spLocks xmlns:a="http://schemas.openxmlformats.org/drawingml/2006/main" noGrp="1"/>
          </p:cNvSpPr>
          <p:nvPr/>
        </p:nvSpPr>
        <p:spPr>
          <a:xfrm xmlns:a="http://schemas.openxmlformats.org/drawingml/2006/main">
            <a:off x="800100" y="3333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2E7D5B"/>
                </a:solidFill>
                <a:latin typeface="DejaVu Serif"/>
                <a:ea typeface="DejaVu Serif"/>
                <a:cs typeface="DejaVu Serif"/>
              </a:defRPr>
            </a:pPr>
            <a:r>
              <a:rPr sz="1275" b="1">
                <a:solidFill>
                  <a:srgbClr val="2E7D5B"/>
                </a:solidFill>
                <a:latin typeface="DejaVu Serif"/>
                <a:ea typeface="DejaVu Serif"/>
                <a:cs typeface="DejaVu Serif"/>
              </a:rPr>
              <a:t/>
            </a:r>
          </a:p>
        </p:txBody>
      </p:sp>
      <p:sp>
        <p:nvSpPr>
          <p:cNvPr id="13" name="">
            <a:extLst xmlns:a="http://schemas.openxmlformats.org/drawingml/2006/main">
              <a:ext uri="{FF2B5EF4-FFF2-40B4-BE49-F238E27FC236}">
                <a16:creationId xmlns:a16="http://schemas.microsoft.com/office/drawing/2014/main" id="{CF5FEE70-C08B-444A-BCE1-2EB0B9BC8EE9}"/>
              </a:ext>
            </a:extLst>
          </p:cNvPr>
          <p:cNvSpPr>
            <a:spLocks xmlns:a="http://schemas.openxmlformats.org/drawingml/2006/main" noGrp="1"/>
          </p:cNvSpPr>
          <p:nvPr/>
        </p:nvSpPr>
        <p:spPr>
          <a:xfrm xmlns:a="http://schemas.openxmlformats.org/drawingml/2006/main">
            <a:off x="819150" y="34861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650" b="1">
                <a:solidFill>
                  <a:srgbClr val="182A3A"/>
                </a:solidFill>
                <a:latin typeface="DejaVu Serif"/>
                <a:ea typeface="DejaVu Serif"/>
                <a:cs typeface="DejaVu Serif"/>
              </a:defRPr>
            </a:pPr>
            <a:r>
              <a:rPr sz="1650" b="1">
                <a:solidFill>
                  <a:srgbClr val="182A3A"/>
                </a:solidFill>
                <a:latin typeface="DejaVu Serif"/>
                <a:ea typeface="DejaVu Serif"/>
                <a:cs typeface="DejaVu Serif"/>
              </a:rPr>
              <a:t>Richard Asamoah</a:t>
            </a:r>
          </a:p>
        </p:txBody>
      </p:sp>
      <p:sp>
        <p:nvSpPr>
          <p:cNvPr id="14" name="">
            <a:extLst xmlns:a="http://schemas.openxmlformats.org/drawingml/2006/main">
              <a:ext uri="{FF2B5EF4-FFF2-40B4-BE49-F238E27FC236}">
                <a16:creationId xmlns:a16="http://schemas.microsoft.com/office/drawing/2014/main" id="{E4C15F42-63D5-4D90-AC59-D4D1237A92ED}"/>
              </a:ext>
            </a:extLst>
          </p:cNvPr>
          <p:cNvSpPr>
            <a:spLocks xmlns:a="http://schemas.openxmlformats.org/drawingml/2006/main" noGrp="1"/>
          </p:cNvSpPr>
          <p:nvPr/>
        </p:nvSpPr>
        <p:spPr>
          <a:xfrm xmlns:a="http://schemas.openxmlformats.org/drawingml/2006/main">
            <a:off x="4286250" y="3514725"/>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Contribution to be confirmed</a:t>
            </a:r>
          </a:p>
        </p:txBody>
      </p:sp>
      <p:sp>
        <p:nvSpPr>
          <p:cNvPr id="15" name="">
            <a:extLst xmlns:a="http://schemas.openxmlformats.org/drawingml/2006/main">
              <a:ext uri="{FF2B5EF4-FFF2-40B4-BE49-F238E27FC236}">
                <a16:creationId xmlns:a16="http://schemas.microsoft.com/office/drawing/2014/main" id="{97897294-EA67-4DB8-9AEF-2EB1B4208ADB}"/>
              </a:ext>
            </a:extLst>
          </p:cNvPr>
          <p:cNvSpPr>
            <a:spLocks xmlns:a="http://schemas.openxmlformats.org/drawingml/2006/main" noGrp="1"/>
          </p:cNvSpPr>
          <p:nvPr/>
        </p:nvSpPr>
        <p:spPr>
          <a:xfrm xmlns:a="http://schemas.openxmlformats.org/drawingml/2006/main">
            <a:off x="800100" y="452437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146C94"/>
                </a:solidFill>
                <a:latin typeface="DejaVu Serif"/>
                <a:ea typeface="DejaVu Serif"/>
                <a:cs typeface="DejaVu Serif"/>
              </a:defRPr>
            </a:pPr>
            <a:r>
              <a:rPr sz="1275" b="1">
                <a:solidFill>
                  <a:srgbClr val="146C94"/>
                </a:solidFill>
                <a:latin typeface="DejaVu Serif"/>
                <a:ea typeface="DejaVu Serif"/>
                <a:cs typeface="DejaVu Serif"/>
              </a:rPr>
              <a:t/>
            </a:r>
          </a:p>
        </p:txBody>
      </p:sp>
      <p:sp>
        <p:nvSpPr>
          <p:cNvPr id="16" name="">
            <a:extLst xmlns:a="http://schemas.openxmlformats.org/drawingml/2006/main">
              <a:ext uri="{FF2B5EF4-FFF2-40B4-BE49-F238E27FC236}">
                <a16:creationId xmlns:a16="http://schemas.microsoft.com/office/drawing/2014/main" id="{9651EFC7-B379-4EE6-A4FF-5EC92A14BF8D}"/>
              </a:ext>
            </a:extLst>
          </p:cNvPr>
          <p:cNvSpPr>
            <a:spLocks xmlns:a="http://schemas.openxmlformats.org/drawingml/2006/main" noGrp="1"/>
          </p:cNvSpPr>
          <p:nvPr/>
        </p:nvSpPr>
        <p:spPr>
          <a:xfrm xmlns:a="http://schemas.openxmlformats.org/drawingml/2006/main">
            <a:off x="819150" y="39528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650" b="1">
                <a:solidFill>
                  <a:srgbClr val="182A3A"/>
                </a:solidFill>
                <a:latin typeface="DejaVu Serif"/>
                <a:ea typeface="DejaVu Serif"/>
                <a:cs typeface="DejaVu Serif"/>
              </a:defRPr>
            </a:pPr>
            <a:r>
              <a:rPr sz="1650" b="1">
                <a:solidFill>
                  <a:srgbClr val="182A3A"/>
                </a:solidFill>
                <a:latin typeface="DejaVu Serif"/>
                <a:ea typeface="DejaVu Serif"/>
                <a:cs typeface="DejaVu Serif"/>
              </a:rPr>
              <a:t>Mladen Mrkić</a:t>
            </a:r>
          </a:p>
        </p:txBody>
      </p:sp>
      <p:sp>
        <p:nvSpPr>
          <p:cNvPr id="17" name="">
            <a:extLst xmlns:a="http://schemas.openxmlformats.org/drawingml/2006/main">
              <a:ext uri="{FF2B5EF4-FFF2-40B4-BE49-F238E27FC236}">
                <a16:creationId xmlns:a16="http://schemas.microsoft.com/office/drawing/2014/main" id="{C656C5FE-6598-4848-9BDE-1FA2A9BB670D}"/>
              </a:ext>
            </a:extLst>
          </p:cNvPr>
          <p:cNvSpPr>
            <a:spLocks xmlns:a="http://schemas.openxmlformats.org/drawingml/2006/main" noGrp="1"/>
          </p:cNvSpPr>
          <p:nvPr/>
        </p:nvSpPr>
        <p:spPr>
          <a:xfrm xmlns:a="http://schemas.openxmlformats.org/drawingml/2006/main">
            <a:off x="4286250" y="398145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AWS cost estimate and peer reviews</a:t>
            </a:r>
          </a:p>
        </p:txBody>
      </p:sp>
      <p:sp>
        <p:nvSpPr>
          <p:cNvPr id="18" name="">
            <a:extLst xmlns:a="http://schemas.openxmlformats.org/drawingml/2006/main">
              <a:ext uri="{FF2B5EF4-FFF2-40B4-BE49-F238E27FC236}">
                <a16:creationId xmlns:a16="http://schemas.microsoft.com/office/drawing/2014/main" id="{3763A7B7-C21E-44B7-98DD-F228B631E4FF}"/>
              </a:ext>
            </a:extLst>
          </p:cNvPr>
          <p:cNvSpPr>
            <a:spLocks xmlns:a="http://schemas.openxmlformats.org/drawingml/2006/main" noGrp="1"/>
          </p:cNvSpPr>
          <p:nvPr/>
        </p:nvSpPr>
        <p:spPr>
          <a:xfrm xmlns:a="http://schemas.openxmlformats.org/drawingml/2006/main">
            <a:off x="6381750" y="3333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287F76"/>
                </a:solidFill>
                <a:latin typeface="DejaVu Serif"/>
                <a:ea typeface="DejaVu Serif"/>
                <a:cs typeface="DejaVu Serif"/>
              </a:defRPr>
            </a:pPr>
            <a:r>
              <a:rPr sz="1275" b="1">
                <a:solidFill>
                  <a:srgbClr val="287F76"/>
                </a:solidFill>
                <a:latin typeface="DejaVu Serif"/>
                <a:ea typeface="DejaVu Serif"/>
                <a:cs typeface="DejaVu Serif"/>
              </a:rPr>
              <a:t/>
            </a:r>
          </a:p>
        </p:txBody>
      </p:sp>
      <p:sp>
        <p:nvSpPr>
          <p:cNvPr id="19" name="">
            <a:extLst xmlns:a="http://schemas.openxmlformats.org/drawingml/2006/main">
              <a:ext uri="{FF2B5EF4-FFF2-40B4-BE49-F238E27FC236}">
                <a16:creationId xmlns:a16="http://schemas.microsoft.com/office/drawing/2014/main" id="{8BCAF582-8EF3-4936-A0AE-B0A5C7937593}"/>
              </a:ext>
            </a:extLst>
          </p:cNvPr>
          <p:cNvSpPr>
            <a:spLocks xmlns:a="http://schemas.openxmlformats.org/drawingml/2006/main" noGrp="1"/>
          </p:cNvSpPr>
          <p:nvPr/>
        </p:nvSpPr>
        <p:spPr>
          <a:xfrm xmlns:a="http://schemas.openxmlformats.org/drawingml/2006/main">
            <a:off x="819150" y="4810125"/>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50" b="1">
                <a:solidFill>
                  <a:srgbClr val="182A3A"/>
                </a:solidFill>
                <a:latin typeface="DejaVu Sans"/>
                <a:ea typeface="DejaVu Sans"/>
                <a:cs typeface="DejaVu Sans"/>
              </a:defRPr>
            </a:pPr>
            <a:r>
              <a:rPr sz="1350" b="1">
                <a:solidFill>
                  <a:srgbClr val="182A3A"/>
                </a:solidFill>
                <a:latin typeface="DejaVu Sans"/>
                <a:ea typeface="DejaVu Sans"/>
                <a:cs typeface="DejaVu Sans"/>
              </a:rPr>
              <a:t>Technical lessons</a:t>
            </a:r>
          </a:p>
        </p:txBody>
      </p:sp>
      <p:sp>
        <p:nvSpPr>
          <p:cNvPr id="20" name="">
            <a:extLst xmlns:a="http://schemas.openxmlformats.org/drawingml/2006/main">
              <a:ext uri="{FF2B5EF4-FFF2-40B4-BE49-F238E27FC236}">
                <a16:creationId xmlns:a16="http://schemas.microsoft.com/office/drawing/2014/main" id="{E0A7F7B1-A6BF-4643-B8DA-D57261ABCA8F}"/>
              </a:ext>
            </a:extLst>
          </p:cNvPr>
          <p:cNvSpPr>
            <a:spLocks xmlns:a="http://schemas.openxmlformats.org/drawingml/2006/main" noGrp="1"/>
          </p:cNvSpPr>
          <p:nvPr/>
        </p:nvSpPr>
        <p:spPr>
          <a:xfrm xmlns:a="http://schemas.openxmlformats.org/drawingml/2006/main">
            <a:off x="4286250" y="4810125"/>
            <a:ext cx="685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0">
                <a:solidFill>
                  <a:srgbClr val="586E82"/>
                </a:solidFill>
                <a:latin typeface="DejaVu Sans"/>
                <a:ea typeface="DejaVu Sans"/>
                <a:cs typeface="DejaVu Sans"/>
              </a:defRPr>
            </a:pPr>
            <a:r>
              <a:rPr sz="1050" b="0">
                <a:solidFill>
                  <a:srgbClr val="586E82"/>
                </a:solidFill>
                <a:latin typeface="DejaVu Sans"/>
                <a:ea typeface="DejaVu Sans"/>
                <a:cs typeface="DejaVu Sans"/>
              </a:rPr>
              <a:t>Backend permissions and private image access need deployment tests alongside unit tests.</a:t>
            </a:r>
          </a:p>
        </p:txBody>
      </p:sp>
      <p:sp>
        <p:nvSpPr>
          <p:cNvPr id="21" name="">
            <a:extLst xmlns:a="http://schemas.openxmlformats.org/drawingml/2006/main">
              <a:ext uri="{FF2B5EF4-FFF2-40B4-BE49-F238E27FC236}">
                <a16:creationId xmlns:a16="http://schemas.microsoft.com/office/drawing/2014/main" id="{9F1915DA-56FE-45C6-902C-4257CECC6347}"/>
              </a:ext>
            </a:extLst>
          </p:cNvPr>
          <p:cNvSpPr>
            <a:spLocks xmlns:a="http://schemas.openxmlformats.org/drawingml/2006/main" noGrp="1"/>
          </p:cNvSpPr>
          <p:nvPr/>
        </p:nvSpPr>
        <p:spPr>
          <a:xfrm xmlns:a="http://schemas.openxmlformats.org/drawingml/2006/main">
            <a:off x="6381750" y="452437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A66717"/>
                </a:solidFill>
                <a:latin typeface="DejaVu Serif"/>
                <a:ea typeface="DejaVu Serif"/>
                <a:cs typeface="DejaVu Serif"/>
              </a:defRPr>
            </a:pPr>
            <a:r>
              <a:rPr sz="1275" b="1">
                <a:solidFill>
                  <a:srgbClr val="A66717"/>
                </a:solidFill>
                <a:latin typeface="DejaVu Serif"/>
                <a:ea typeface="DejaVu Serif"/>
                <a:cs typeface="DejaVu Serif"/>
              </a:rPr>
              <a:t/>
            </a:r>
          </a:p>
        </p:txBody>
      </p:sp>
      <p:sp>
        <p:nvSpPr>
          <p:cNvPr id="22" name="">
            <a:extLst xmlns:a="http://schemas.openxmlformats.org/drawingml/2006/main">
              <a:ext uri="{FF2B5EF4-FFF2-40B4-BE49-F238E27FC236}">
                <a16:creationId xmlns:a16="http://schemas.microsoft.com/office/drawing/2014/main" id="{046B8F7B-D798-44B9-A834-C3457123517A}"/>
              </a:ext>
            </a:extLst>
          </p:cNvPr>
          <p:cNvSpPr>
            <a:spLocks xmlns:a="http://schemas.openxmlformats.org/drawingml/2006/main" noGrp="1"/>
          </p:cNvSpPr>
          <p:nvPr/>
        </p:nvSpPr>
        <p:spPr>
          <a:xfrm xmlns:a="http://schemas.openxmlformats.org/drawingml/2006/main">
            <a:off x="819150" y="5572125"/>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50" b="1">
                <a:solidFill>
                  <a:srgbClr val="182A3A"/>
                </a:solidFill>
                <a:latin typeface="DejaVu Sans"/>
                <a:ea typeface="DejaVu Sans"/>
                <a:cs typeface="DejaVu Sans"/>
              </a:defRPr>
            </a:pPr>
            <a:r>
              <a:rPr sz="1350" b="1">
                <a:solidFill>
                  <a:srgbClr val="182A3A"/>
                </a:solidFill>
                <a:latin typeface="DejaVu Sans"/>
                <a:ea typeface="DejaVu Sans"/>
                <a:cs typeface="DejaVu Sans"/>
              </a:rPr>
              <a:t>Collaboration lessons</a:t>
            </a:r>
          </a:p>
        </p:txBody>
      </p:sp>
      <p:sp>
        <p:nvSpPr>
          <p:cNvPr id="23" name="">
            <a:extLst xmlns:a="http://schemas.openxmlformats.org/drawingml/2006/main">
              <a:ext uri="{FF2B5EF4-FFF2-40B4-BE49-F238E27FC236}">
                <a16:creationId xmlns:a16="http://schemas.microsoft.com/office/drawing/2014/main" id="{5E215ED2-3507-4287-B921-2B5493FD589E}"/>
              </a:ext>
            </a:extLst>
          </p:cNvPr>
          <p:cNvSpPr>
            <a:spLocks xmlns:a="http://schemas.openxmlformats.org/drawingml/2006/main" noGrp="1"/>
          </p:cNvSpPr>
          <p:nvPr/>
        </p:nvSpPr>
        <p:spPr>
          <a:xfrm xmlns:a="http://schemas.openxmlformats.org/drawingml/2006/main">
            <a:off x="4286250" y="5572125"/>
            <a:ext cx="685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0">
                <a:solidFill>
                  <a:srgbClr val="586E82"/>
                </a:solidFill>
                <a:latin typeface="DejaVu Sans"/>
                <a:ea typeface="DejaVu Sans"/>
                <a:cs typeface="DejaVu Sans"/>
              </a:defRPr>
            </a:pPr>
            <a:r>
              <a:rPr sz="1050" b="0">
                <a:solidFill>
                  <a:srgbClr val="586E82"/>
                </a:solidFill>
                <a:latin typeface="DejaVu Sans"/>
                <a:ea typeface="DejaVu Sans"/>
                <a:cs typeface="DejaVu Sans"/>
              </a:rPr>
              <a:t>Small pull requests and clear documentation support integration, review and handover.</a:t>
            </a:r>
          </a:p>
        </p:txBody>
      </p:sp>
      <p:sp>
        <p:nvSpPr>
          <p:cNvPr id="24" name="">
            <a:extLst xmlns:a="http://schemas.openxmlformats.org/drawingml/2006/main">
              <a:ext uri="{FF2B5EF4-FFF2-40B4-BE49-F238E27FC236}">
                <a16:creationId xmlns:a16="http://schemas.microsoft.com/office/drawing/2014/main" id="{589C6615-BE55-4876-AF7D-5A64750B41CE}"/>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AWS Smart Asset Lifecycle Tracker  |  Week 4</a:t>
            </a:r>
          </a:p>
        </p:txBody>
      </p:sp>
      <p:sp>
        <p:nvSpPr>
          <p:cNvPr id="25" name="">
            <a:extLst xmlns:a="http://schemas.openxmlformats.org/drawingml/2006/main">
              <a:ext uri="{FF2B5EF4-FFF2-40B4-BE49-F238E27FC236}">
                <a16:creationId xmlns:a16="http://schemas.microsoft.com/office/drawing/2014/main" id="{284C6E9B-4738-47F5-8C9C-71E3AE1832C9}"/>
              </a:ext>
            </a:extLst>
          </p:cNvPr>
          <p:cNvSpPr>
            <a:spLocks xmlns:a="http://schemas.openxmlformats.org/drawingml/2006/main" noGrp="1"/>
          </p:cNvSpPr>
          <p:nvPr/>
        </p:nvSpPr>
        <p:spPr>
          <a:xfrm xmlns:a="http://schemas.openxmlformats.org/drawingml/2006/main">
            <a:off x="108394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09</a:t>
            </a:r>
          </a:p>
        </p:txBody>
      </p:sp>
    </p:spTree>
    <p:extLst>
      <p:ext uri="{BB962C8B-B14F-4D97-AF65-F5344CB8AC3E}">
        <p14:creationId xmlns:p14="http://schemas.microsoft.com/office/powerpoint/2010/main" val="14077954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62E6CFC-9D76-4816-B3FC-980BA819AC1F}"/>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550" b="1">
                <a:solidFill>
                  <a:srgbClr val="102A43"/>
                </a:solidFill>
                <a:latin typeface="DejaVu Serif"/>
                <a:ea typeface="DejaVu Serif"/>
                <a:cs typeface="DejaVu Serif"/>
              </a:defRPr>
            </a:pPr>
            <a:r>
              <a:rPr sz="2550" b="1">
                <a:solidFill>
                  <a:srgbClr val="102A43"/>
                </a:solidFill>
                <a:latin typeface="DejaVu Serif"/>
                <a:ea typeface="DejaVu Serif"/>
                <a:cs typeface="DejaVu Serif"/>
              </a:rPr>
              <a:t>Project result and handover</a:t>
            </a:r>
          </a:p>
        </p:txBody>
      </p:sp>
      <p:sp>
        <p:nvSpPr>
          <p:cNvPr id="2" name="">
            <a:extLst xmlns:a="http://schemas.openxmlformats.org/drawingml/2006/main">
              <a:ext uri="{FF2B5EF4-FFF2-40B4-BE49-F238E27FC236}">
                <a16:creationId xmlns:a16="http://schemas.microsoft.com/office/drawing/2014/main" id="{72C97721-C496-42FC-8AAB-97DA20165E08}"/>
              </a:ext>
            </a:extLst>
          </p:cNvPr>
          <p:cNvSpPr>
            <a:spLocks xmlns:a="http://schemas.openxmlformats.org/drawingml/2006/main" noGrp="1"/>
          </p:cNvSpPr>
          <p:nvPr/>
        </p:nvSpPr>
        <p:spPr>
          <a:xfrm xmlns:a="http://schemas.openxmlformats.org/drawingml/2006/main">
            <a:off x="704850" y="9525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The final submission combines the working application with evidence and technical documentation</a:t>
            </a:r>
          </a:p>
        </p:txBody>
      </p:sp>
      <p:sp>
        <p:nvSpPr>
          <p:cNvPr id="3" name="">
            <a:extLst xmlns:a="http://schemas.openxmlformats.org/drawingml/2006/main">
              <a:ext uri="{FF2B5EF4-FFF2-40B4-BE49-F238E27FC236}">
                <a16:creationId xmlns:a16="http://schemas.microsoft.com/office/drawing/2014/main" id="{E81242A3-1747-4EE6-AFBB-7190C904DE40}"/>
              </a:ext>
            </a:extLst>
          </p:cNvPr>
          <p:cNvSpPr>
            <a:spLocks xmlns:a="http://schemas.openxmlformats.org/drawingml/2006/main" noGrp="1"/>
          </p:cNvSpPr>
          <p:nvPr/>
        </p:nvSpPr>
        <p:spPr>
          <a:xfrm xmlns:a="http://schemas.openxmlformats.org/drawingml/2006/main">
            <a:off x="685800" y="1314450"/>
            <a:ext cx="10820400" cy="28575"/>
          </a:xfrm>
          <a:prstGeom xmlns:a="http://schemas.openxmlformats.org/drawingml/2006/main" prst="rect">
            <a:avLst/>
          </a:prstGeom>
          <a:solidFill xmlns:a="http://schemas.openxmlformats.org/drawingml/2006/main">
            <a:srgbClr val="146C9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0731CD2-DF2E-48D9-83E6-9F6BA35DFCB2}"/>
              </a:ext>
            </a:extLst>
          </p:cNvPr>
          <p:cNvSpPr>
            <a:spLocks xmlns:a="http://schemas.openxmlformats.org/drawingml/2006/main" noGrp="1"/>
          </p:cNvSpPr>
          <p:nvPr/>
        </p:nvSpPr>
        <p:spPr>
          <a:xfrm xmlns:a="http://schemas.openxmlformats.org/drawingml/2006/main">
            <a:off x="800100" y="1743075"/>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BFADE2C-7C62-4F02-BD82-C2DED6F008F1}"/>
              </a:ext>
            </a:extLst>
          </p:cNvPr>
          <p:cNvSpPr>
            <a:spLocks xmlns:a="http://schemas.openxmlformats.org/drawingml/2006/main" noGrp="1"/>
          </p:cNvSpPr>
          <p:nvPr/>
        </p:nvSpPr>
        <p:spPr>
          <a:xfrm xmlns:a="http://schemas.openxmlformats.org/drawingml/2006/main">
            <a:off x="819150" y="16192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Application and repository</a:t>
            </a:r>
          </a:p>
        </p:txBody>
      </p:sp>
      <p:sp>
        <p:nvSpPr>
          <p:cNvPr id="6" name="">
            <a:extLst xmlns:a="http://schemas.openxmlformats.org/drawingml/2006/main">
              <a:ext uri="{FF2B5EF4-FFF2-40B4-BE49-F238E27FC236}">
                <a16:creationId xmlns:a16="http://schemas.microsoft.com/office/drawing/2014/main" id="{782B8579-3EC3-40A7-B09F-0E0433176F62}"/>
              </a:ext>
            </a:extLst>
          </p:cNvPr>
          <p:cNvSpPr>
            <a:spLocks xmlns:a="http://schemas.openxmlformats.org/drawingml/2006/main" noGrp="1"/>
          </p:cNvSpPr>
          <p:nvPr/>
        </p:nvSpPr>
        <p:spPr>
          <a:xfrm xmlns:a="http://schemas.openxmlformats.org/drawingml/2006/main">
            <a:off x="4000500" y="16383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Application: https://main.dx980x98nt3d5.amplifyapp.com/</a:t>
            </a:r>
          </a:p>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Repository: github.com/PellizzoniCode/saltracker</a:t>
            </a:r>
          </a:p>
        </p:txBody>
      </p:sp>
      <p:sp>
        <p:nvSpPr>
          <p:cNvPr id="7" name="">
            <a:extLst xmlns:a="http://schemas.openxmlformats.org/drawingml/2006/main">
              <a:ext uri="{FF2B5EF4-FFF2-40B4-BE49-F238E27FC236}">
                <a16:creationId xmlns:a16="http://schemas.microsoft.com/office/drawing/2014/main" id="{04C60AE9-4D51-4E84-9C0E-65ECE3D0BDF4}"/>
              </a:ext>
            </a:extLst>
          </p:cNvPr>
          <p:cNvSpPr>
            <a:spLocks xmlns:a="http://schemas.openxmlformats.org/drawingml/2006/main" noGrp="1"/>
          </p:cNvSpPr>
          <p:nvPr/>
        </p:nvSpPr>
        <p:spPr>
          <a:xfrm xmlns:a="http://schemas.openxmlformats.org/drawingml/2006/main">
            <a:off x="800100" y="2838450"/>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2DE4D3E-B5B5-4691-9BB2-E487356475CB}"/>
              </a:ext>
            </a:extLst>
          </p:cNvPr>
          <p:cNvSpPr>
            <a:spLocks xmlns:a="http://schemas.openxmlformats.org/drawingml/2006/main" noGrp="1"/>
          </p:cNvSpPr>
          <p:nvPr/>
        </p:nvSpPr>
        <p:spPr>
          <a:xfrm xmlns:a="http://schemas.openxmlformats.org/drawingml/2006/main">
            <a:off x="819150" y="24003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Architecture and deployment</a:t>
            </a:r>
          </a:p>
        </p:txBody>
      </p:sp>
      <p:sp>
        <p:nvSpPr>
          <p:cNvPr id="9" name="">
            <a:extLst xmlns:a="http://schemas.openxmlformats.org/drawingml/2006/main">
              <a:ext uri="{FF2B5EF4-FFF2-40B4-BE49-F238E27FC236}">
                <a16:creationId xmlns:a16="http://schemas.microsoft.com/office/drawing/2014/main" id="{08E1883D-4C55-43D2-906B-498429814BBF}"/>
              </a:ext>
            </a:extLst>
          </p:cNvPr>
          <p:cNvSpPr>
            <a:spLocks xmlns:a="http://schemas.openxmlformats.org/drawingml/2006/main" noGrp="1"/>
          </p:cNvSpPr>
          <p:nvPr/>
        </p:nvSpPr>
        <p:spPr>
          <a:xfrm xmlns:a="http://schemas.openxmlformats.org/drawingml/2006/main">
            <a:off x="4000500" y="24193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Architecture diagram, SAM templates, DynamoDB data model, and Cognito groups and permissions.</a:t>
            </a:r>
          </a:p>
        </p:txBody>
      </p:sp>
      <p:sp>
        <p:nvSpPr>
          <p:cNvPr id="10" name="">
            <a:extLst xmlns:a="http://schemas.openxmlformats.org/drawingml/2006/main">
              <a:ext uri="{FF2B5EF4-FFF2-40B4-BE49-F238E27FC236}">
                <a16:creationId xmlns:a16="http://schemas.microsoft.com/office/drawing/2014/main" id="{3EF45317-1322-49B0-96AF-838B99EA4E86}"/>
              </a:ext>
            </a:extLst>
          </p:cNvPr>
          <p:cNvSpPr>
            <a:spLocks xmlns:a="http://schemas.openxmlformats.org/drawingml/2006/main" noGrp="1"/>
          </p:cNvSpPr>
          <p:nvPr/>
        </p:nvSpPr>
        <p:spPr>
          <a:xfrm xmlns:a="http://schemas.openxmlformats.org/drawingml/2006/main">
            <a:off x="800100" y="3933825"/>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80A5B36-4F59-4A1D-95A7-531038C62B7B}"/>
              </a:ext>
            </a:extLst>
          </p:cNvPr>
          <p:cNvSpPr>
            <a:spLocks xmlns:a="http://schemas.openxmlformats.org/drawingml/2006/main" noGrp="1"/>
          </p:cNvSpPr>
          <p:nvPr/>
        </p:nvSpPr>
        <p:spPr>
          <a:xfrm xmlns:a="http://schemas.openxmlformats.org/drawingml/2006/main">
            <a:off x="819150" y="31813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Application and security evidence</a:t>
            </a:r>
          </a:p>
        </p:txBody>
      </p:sp>
      <p:sp>
        <p:nvSpPr>
          <p:cNvPr id="12" name="">
            <a:extLst xmlns:a="http://schemas.openxmlformats.org/drawingml/2006/main">
              <a:ext uri="{FF2B5EF4-FFF2-40B4-BE49-F238E27FC236}">
                <a16:creationId xmlns:a16="http://schemas.microsoft.com/office/drawing/2014/main" id="{310134EA-E558-4C58-8716-8DD82C464982}"/>
              </a:ext>
            </a:extLst>
          </p:cNvPr>
          <p:cNvSpPr>
            <a:spLocks xmlns:a="http://schemas.openxmlformats.org/drawingml/2006/main" noGrp="1"/>
          </p:cNvSpPr>
          <p:nvPr/>
        </p:nvSpPr>
        <p:spPr>
          <a:xfrm xmlns:a="http://schemas.openxmlformats.org/drawingml/2006/main">
            <a:off x="4000500" y="32004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Working screenshots, depreciation documentation, AI prompt/output example, security tests and CloudWatch captures.</a:t>
            </a:r>
          </a:p>
        </p:txBody>
      </p:sp>
      <p:sp>
        <p:nvSpPr>
          <p:cNvPr id="13" name="">
            <a:extLst xmlns:a="http://schemas.openxmlformats.org/drawingml/2006/main">
              <a:ext uri="{FF2B5EF4-FFF2-40B4-BE49-F238E27FC236}">
                <a16:creationId xmlns:a16="http://schemas.microsoft.com/office/drawing/2014/main" id="{D6E63163-F5C8-48D9-8E9E-DE6A2E6645F7}"/>
              </a:ext>
            </a:extLst>
          </p:cNvPr>
          <p:cNvSpPr>
            <a:spLocks xmlns:a="http://schemas.openxmlformats.org/drawingml/2006/main" noGrp="1"/>
          </p:cNvSpPr>
          <p:nvPr/>
        </p:nvSpPr>
        <p:spPr>
          <a:xfrm xmlns:a="http://schemas.openxmlformats.org/drawingml/2006/main">
            <a:off x="800100" y="5029200"/>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D4182F3-84F8-42D9-B343-5FB1EA995C89}"/>
              </a:ext>
            </a:extLst>
          </p:cNvPr>
          <p:cNvSpPr>
            <a:spLocks xmlns:a="http://schemas.openxmlformats.org/drawingml/2006/main" noGrp="1"/>
          </p:cNvSpPr>
          <p:nvPr/>
        </p:nvSpPr>
        <p:spPr>
          <a:xfrm xmlns:a="http://schemas.openxmlformats.org/drawingml/2006/main">
            <a:off x="819150" y="39624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Team and delivery documents</a:t>
            </a:r>
          </a:p>
        </p:txBody>
      </p:sp>
      <p:sp>
        <p:nvSpPr>
          <p:cNvPr id="15" name="">
            <a:extLst xmlns:a="http://schemas.openxmlformats.org/drawingml/2006/main">
              <a:ext uri="{FF2B5EF4-FFF2-40B4-BE49-F238E27FC236}">
                <a16:creationId xmlns:a16="http://schemas.microsoft.com/office/drawing/2014/main" id="{F6EE42CC-4EC5-4E35-8871-3C3F2E580F5D}"/>
              </a:ext>
            </a:extLst>
          </p:cNvPr>
          <p:cNvSpPr>
            <a:spLocks xmlns:a="http://schemas.openxmlformats.org/drawingml/2006/main" noGrp="1"/>
          </p:cNvSpPr>
          <p:nvPr/>
        </p:nvSpPr>
        <p:spPr>
          <a:xfrm xmlns:a="http://schemas.openxmlformats.org/drawingml/2006/main">
            <a:off x="4000500" y="39814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AWS cost estimate, individual contribution summary, final slides and a short project reflection.</a:t>
            </a:r>
          </a:p>
        </p:txBody>
      </p:sp>
      <p:sp>
        <p:nvSpPr>
          <p:cNvPr id="16" name="">
            <a:extLst xmlns:a="http://schemas.openxmlformats.org/drawingml/2006/main">
              <a:ext uri="{FF2B5EF4-FFF2-40B4-BE49-F238E27FC236}">
                <a16:creationId xmlns:a16="http://schemas.microsoft.com/office/drawing/2014/main" id="{8D5F2D94-2512-4E39-8D15-14CE5E55F566}"/>
              </a:ext>
            </a:extLst>
          </p:cNvPr>
          <p:cNvSpPr>
            <a:spLocks xmlns:a="http://schemas.openxmlformats.org/drawingml/2006/main" noGrp="1"/>
          </p:cNvSpPr>
          <p:nvPr/>
        </p:nvSpPr>
        <p:spPr>
          <a:xfrm xmlns:a="http://schemas.openxmlformats.org/drawingml/2006/main">
            <a:off x="819150" y="47434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Project outcome</a:t>
            </a:r>
          </a:p>
        </p:txBody>
      </p:sp>
      <p:sp>
        <p:nvSpPr>
          <p:cNvPr id="17" name="">
            <a:extLst xmlns:a="http://schemas.openxmlformats.org/drawingml/2006/main">
              <a:ext uri="{FF2B5EF4-FFF2-40B4-BE49-F238E27FC236}">
                <a16:creationId xmlns:a16="http://schemas.microsoft.com/office/drawing/2014/main" id="{C29853AE-CAF9-43D5-BB23-D840C42770BE}"/>
              </a:ext>
            </a:extLst>
          </p:cNvPr>
          <p:cNvSpPr>
            <a:spLocks xmlns:a="http://schemas.openxmlformats.org/drawingml/2006/main" noGrp="1"/>
          </p:cNvSpPr>
          <p:nvPr/>
        </p:nvSpPr>
        <p:spPr>
          <a:xfrm xmlns:a="http://schemas.openxmlformats.org/drawingml/2006/main">
            <a:off x="6572250" y="2238375"/>
            <a:ext cx="4476750" cy="2000250"/>
          </a:xfrm>
          <a:prstGeom xmlns:a="http://schemas.openxmlformats.org/drawingml/2006/main" prst="roundRect">
            <a:avLst>
              <a:gd name="adj" fmla="val 6667"/>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4E871F-19ED-4CC5-B68D-E970FEA6537B}"/>
              </a:ext>
            </a:extLst>
          </p:cNvPr>
          <p:cNvSpPr>
            <a:spLocks xmlns:a="http://schemas.openxmlformats.org/drawingml/2006/main" noGrp="1"/>
          </p:cNvSpPr>
          <p:nvPr/>
        </p:nvSpPr>
        <p:spPr>
          <a:xfrm xmlns:a="http://schemas.openxmlformats.org/drawingml/2006/main">
            <a:off x="4000500" y="47625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 central asset lifecycle application with secure access, financial tracking and AI-assisted maintenance.</a:t>
            </a:r>
          </a:p>
        </p:txBody>
      </p:sp>
      <p:sp>
        <p:nvSpPr>
          <p:cNvPr id="19" name="">
            <a:extLst xmlns:a="http://schemas.openxmlformats.org/drawingml/2006/main">
              <a:ext uri="{FF2B5EF4-FFF2-40B4-BE49-F238E27FC236}">
                <a16:creationId xmlns:a16="http://schemas.microsoft.com/office/drawing/2014/main" id="{9C6E6CFA-FC05-4A15-BCA5-CD1A86C852A9}"/>
              </a:ext>
            </a:extLst>
          </p:cNvPr>
          <p:cNvSpPr>
            <a:spLocks xmlns:a="http://schemas.openxmlformats.org/drawingml/2006/main" noGrp="1"/>
          </p:cNvSpPr>
          <p:nvPr/>
        </p:nvSpPr>
        <p:spPr>
          <a:xfrm xmlns:a="http://schemas.openxmlformats.org/drawingml/2006/main">
            <a:off x="819150" y="55245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Questions and discussion</a:t>
            </a:r>
          </a:p>
        </p:txBody>
      </p:sp>
      <p:sp>
        <p:nvSpPr>
          <p:cNvPr id="20" name="">
            <a:extLst xmlns:a="http://schemas.openxmlformats.org/drawingml/2006/main">
              <a:ext uri="{FF2B5EF4-FFF2-40B4-BE49-F238E27FC236}">
                <a16:creationId xmlns:a16="http://schemas.microsoft.com/office/drawing/2014/main" id="{C6B94624-7B3F-463A-B6DB-625E70E2C0B8}"/>
              </a:ext>
            </a:extLst>
          </p:cNvPr>
          <p:cNvSpPr>
            <a:spLocks xmlns:a="http://schemas.openxmlformats.org/drawingml/2006/main" noGrp="1"/>
          </p:cNvSpPr>
          <p:nvPr/>
        </p:nvSpPr>
        <p:spPr>
          <a:xfrm xmlns:a="http://schemas.openxmlformats.org/drawingml/2006/main">
            <a:off x="4000500" y="55435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Final acceptance and the submission package remain subject to the outstanding evidence and team confirmations.</a:t>
            </a:r>
          </a:p>
        </p:txBody>
      </p:sp>
      <p:sp>
        <p:nvSpPr>
          <p:cNvPr id="21" name="">
            <a:extLst xmlns:a="http://schemas.openxmlformats.org/drawingml/2006/main">
              <a:ext uri="{FF2B5EF4-FFF2-40B4-BE49-F238E27FC236}">
                <a16:creationId xmlns:a16="http://schemas.microsoft.com/office/drawing/2014/main" id="{23E99D78-ADA3-43FE-B449-2BEDD2594DCA}"/>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AWS Smart Asset Lifecycle Tracker  |  Week 4</a:t>
            </a:r>
          </a:p>
        </p:txBody>
      </p:sp>
      <p:sp>
        <p:nvSpPr>
          <p:cNvPr id="22" name="">
            <a:extLst xmlns:a="http://schemas.openxmlformats.org/drawingml/2006/main">
              <a:ext uri="{FF2B5EF4-FFF2-40B4-BE49-F238E27FC236}">
                <a16:creationId xmlns:a16="http://schemas.microsoft.com/office/drawing/2014/main" id="{D3BA4B1F-0E9E-4A5B-9FC2-CE33ED3ED204}"/>
              </a:ext>
            </a:extLst>
          </p:cNvPr>
          <p:cNvSpPr>
            <a:spLocks xmlns:a="http://schemas.openxmlformats.org/drawingml/2006/main" noGrp="1"/>
          </p:cNvSpPr>
          <p:nvPr/>
        </p:nvSpPr>
        <p:spPr>
          <a:xfrm xmlns:a="http://schemas.openxmlformats.org/drawingml/2006/main">
            <a:off x="108394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10</a:t>
            </a:r>
          </a:p>
        </p:txBody>
      </p:sp>
    </p:spTree>
    <p:extLst>
      <p:ext uri="{BB962C8B-B14F-4D97-AF65-F5344CB8AC3E}">
        <p14:creationId xmlns:p14="http://schemas.microsoft.com/office/powerpoint/2010/main" val="16962868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2026-10-05T17:26:52.8590000Z</dcterms:created>
  <dcterms:modified xsi:type="dcterms:W3CDTF">2026-10-05T17:26:52.8590000Z</dcterms:modified>
</coreProperties>
</file>